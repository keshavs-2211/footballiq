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ppt/changesInfos/changesInfo1.xml" ContentType="application/vnd.ms-powerpoint.changesinfo+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4"/>
  </p:notesMasterIdLst>
  <p:sldIdLst>
    <p:sldId id="256" r:id="rId2"/>
    <p:sldId id="258" r:id="rId3"/>
    <p:sldId id="259" r:id="rId4"/>
    <p:sldId id="260" r:id="rId5"/>
    <p:sldId id="261" r:id="rId6"/>
    <p:sldId id="262" r:id="rId7"/>
    <p:sldId id="263" r:id="rId8"/>
    <p:sldId id="264" r:id="rId9"/>
    <p:sldId id="265" r:id="rId10"/>
    <p:sldId id="266" r:id="rId11"/>
    <p:sldId id="267" r:id="rId12"/>
    <p:sldId id="268" r:id="rId13"/>
  </p:sldIdLst>
  <p:sldSz cx="18288000" cy="10287000"/>
  <p:notesSz cx="6858000" cy="9144000"/>
  <p:embeddedFontLst>
    <p:embeddedFont>
      <p:font typeface="Arial Narrow" panose="020B0606020202030204" pitchFamily="34" charset="0"/>
      <p:regular r:id="rId15"/>
      <p:bold r:id="rId16"/>
      <p:italic r:id="rId17"/>
      <p:boldItalic r:id="rId18"/>
    </p:embeddedFont>
    <p:embeddedFont>
      <p:font typeface="Trebuchet MS" panose="020B0603020202020204" pitchFamily="34" charset="0"/>
      <p:regular r:id="rId19"/>
      <p:bold r:id="rId20"/>
      <p:italic r:id="rId21"/>
      <p:boldItalic r:id="rId22"/>
    </p:embeddedFont>
    <p:embeddedFont>
      <p:font typeface="Calibri" panose="020F0502020204030204" pitchFamily="34" charset="0"/>
      <p:regular r:id="rId23"/>
      <p:bold r:id="rId24"/>
      <p:italic r:id="rId25"/>
      <p:boldItalic r:id="rId26"/>
    </p:embeddedFont>
    <p:embeddedFont>
      <p:font typeface="Times New Roman Bold" panose="02020803070505020304" pitchFamily="18" charset="0"/>
      <p:regular r:id="rId27"/>
      <p:bold r:id="rId28"/>
    </p:embeddedFont>
    <p:embeddedFont>
      <p:font typeface="Consolas" panose="020B0609020204030204" pitchFamily="49" charset="0"/>
      <p:regular r:id="rId29"/>
      <p:bold r:id="rId30"/>
      <p:italic r:id="rId31"/>
      <p:boldItalic r:id="rId3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4959218-8B64-DC81-4D5F-11EB077886AA}" v="20" dt="2026-10-09T10:29:16.43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84" d="100"/>
          <a:sy n="84" d="100"/>
        </p:scale>
        <p:origin x="322" y="77"/>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font" Target="fonts/font4.fntdata"/><Relationship Id="rId26" Type="http://schemas.openxmlformats.org/officeDocument/2006/relationships/font" Target="fonts/font12.fntdata"/><Relationship Id="rId21" Type="http://schemas.openxmlformats.org/officeDocument/2006/relationships/font" Target="fonts/font7.fntdata"/><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5" Type="http://schemas.openxmlformats.org/officeDocument/2006/relationships/font" Target="fonts/font11.fntdata"/><Relationship Id="rId33" Type="http://schemas.openxmlformats.org/officeDocument/2006/relationships/presProps" Target="presProps.xml"/><Relationship Id="rId38"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font" Target="fonts/font6.fntdata"/><Relationship Id="rId29" Type="http://schemas.openxmlformats.org/officeDocument/2006/relationships/font" Target="fonts/font15.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0.fntdata"/><Relationship Id="rId32" Type="http://schemas.openxmlformats.org/officeDocument/2006/relationships/font" Target="fonts/font18.fntdata"/><Relationship Id="rId37"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font" Target="fonts/font1.fntdata"/><Relationship Id="rId23" Type="http://schemas.openxmlformats.org/officeDocument/2006/relationships/font" Target="fonts/font9.fntdata"/><Relationship Id="rId28" Type="http://schemas.openxmlformats.org/officeDocument/2006/relationships/font" Target="fonts/font14.fntdata"/><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5.fntdata"/><Relationship Id="rId31" Type="http://schemas.openxmlformats.org/officeDocument/2006/relationships/font" Target="fonts/font17.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 Id="rId22" Type="http://schemas.openxmlformats.org/officeDocument/2006/relationships/font" Target="fonts/font8.fntdata"/><Relationship Id="rId27" Type="http://schemas.openxmlformats.org/officeDocument/2006/relationships/font" Target="fonts/font13.fntdata"/><Relationship Id="rId30" Type="http://schemas.openxmlformats.org/officeDocument/2006/relationships/font" Target="fonts/font16.fntdata"/><Relationship Id="rId35"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unil Punjabi" userId="S::sunilp@sies.edu.in::54bc86d2-8dba-49d0-883f-68a6dd9ca9c8" providerId="AD" clId="Web-{14959218-8B64-DC81-4D5F-11EB077886AA}"/>
    <pc:docChg chg="delSld modSld">
      <pc:chgData name="Sunil Punjabi" userId="S::sunilp@sies.edu.in::54bc86d2-8dba-49d0-883f-68a6dd9ca9c8" providerId="AD" clId="Web-{14959218-8B64-DC81-4D5F-11EB077886AA}" dt="2026-10-09T10:29:16.434" v="18"/>
      <pc:docMkLst>
        <pc:docMk/>
      </pc:docMkLst>
      <pc:sldChg chg="addSp delSp modSp">
        <pc:chgData name="Sunil Punjabi" userId="S::sunilp@sies.edu.in::54bc86d2-8dba-49d0-883f-68a6dd9ca9c8" providerId="AD" clId="Web-{14959218-8B64-DC81-4D5F-11EB077886AA}" dt="2026-10-09T10:27:09.008" v="7" actId="20577"/>
        <pc:sldMkLst>
          <pc:docMk/>
          <pc:sldMk cId="0" sldId="256"/>
        </pc:sldMkLst>
        <pc:spChg chg="mod">
          <ac:chgData name="Sunil Punjabi" userId="S::sunilp@sies.edu.in::54bc86d2-8dba-49d0-883f-68a6dd9ca9c8" providerId="AD" clId="Web-{14959218-8B64-DC81-4D5F-11EB077886AA}" dt="2026-10-09T10:27:09.008" v="7" actId="20577"/>
          <ac:spMkLst>
            <pc:docMk/>
            <pc:sldMk cId="0" sldId="256"/>
            <ac:spMk id="4" creationId="{00000000-0000-0000-0000-000000000000}"/>
          </ac:spMkLst>
        </pc:spChg>
        <pc:spChg chg="del">
          <ac:chgData name="Sunil Punjabi" userId="S::sunilp@sies.edu.in::54bc86d2-8dba-49d0-883f-68a6dd9ca9c8" providerId="AD" clId="Web-{14959218-8B64-DC81-4D5F-11EB077886AA}" dt="2026-10-09T10:26:48.257" v="0"/>
          <ac:spMkLst>
            <pc:docMk/>
            <pc:sldMk cId="0" sldId="256"/>
            <ac:spMk id="11" creationId="{00000000-0000-0000-0000-000000000000}"/>
          </ac:spMkLst>
        </pc:spChg>
        <pc:picChg chg="add mod">
          <ac:chgData name="Sunil Punjabi" userId="S::sunilp@sies.edu.in::54bc86d2-8dba-49d0-883f-68a6dd9ca9c8" providerId="AD" clId="Web-{14959218-8B64-DC81-4D5F-11EB077886AA}" dt="2026-10-09T10:26:57.617" v="3" actId="14100"/>
          <ac:picMkLst>
            <pc:docMk/>
            <pc:sldMk cId="0" sldId="256"/>
            <ac:picMk id="12" creationId="{1F0D420E-600A-B345-3A16-1C23AD860F18}"/>
          </ac:picMkLst>
        </pc:picChg>
      </pc:sldChg>
      <pc:sldChg chg="addSp delSp">
        <pc:chgData name="Sunil Punjabi" userId="S::sunilp@sies.edu.in::54bc86d2-8dba-49d0-883f-68a6dd9ca9c8" providerId="AD" clId="Web-{14959218-8B64-DC81-4D5F-11EB077886AA}" dt="2026-10-09T10:27:54.822" v="13"/>
        <pc:sldMkLst>
          <pc:docMk/>
          <pc:sldMk cId="0" sldId="258"/>
        </pc:sldMkLst>
        <pc:spChg chg="del">
          <ac:chgData name="Sunil Punjabi" userId="S::sunilp@sies.edu.in::54bc86d2-8dba-49d0-883f-68a6dd9ca9c8" providerId="AD" clId="Web-{14959218-8B64-DC81-4D5F-11EB077886AA}" dt="2026-10-09T10:27:50.728" v="12"/>
          <ac:spMkLst>
            <pc:docMk/>
            <pc:sldMk cId="0" sldId="258"/>
            <ac:spMk id="9" creationId="{00000000-0000-0000-0000-000000000000}"/>
          </ac:spMkLst>
        </pc:spChg>
        <pc:picChg chg="add">
          <ac:chgData name="Sunil Punjabi" userId="S::sunilp@sies.edu.in::54bc86d2-8dba-49d0-883f-68a6dd9ca9c8" providerId="AD" clId="Web-{14959218-8B64-DC81-4D5F-11EB077886AA}" dt="2026-10-09T10:27:54.822" v="13"/>
          <ac:picMkLst>
            <pc:docMk/>
            <pc:sldMk cId="0" sldId="258"/>
            <ac:picMk id="11" creationId="{F7FC9B39-0E22-630C-FE52-CDD329A8DC86}"/>
          </ac:picMkLst>
        </pc:picChg>
      </pc:sldChg>
      <pc:sldChg chg="addSp delSp">
        <pc:chgData name="Sunil Punjabi" userId="S::sunilp@sies.edu.in::54bc86d2-8dba-49d0-883f-68a6dd9ca9c8" providerId="AD" clId="Web-{14959218-8B64-DC81-4D5F-11EB077886AA}" dt="2026-10-09T10:29:16.434" v="18"/>
        <pc:sldMkLst>
          <pc:docMk/>
          <pc:sldMk cId="0" sldId="277"/>
        </pc:sldMkLst>
        <pc:spChg chg="del">
          <ac:chgData name="Sunil Punjabi" userId="S::sunilp@sies.edu.in::54bc86d2-8dba-49d0-883f-68a6dd9ca9c8" providerId="AD" clId="Web-{14959218-8B64-DC81-4D5F-11EB077886AA}" dt="2026-10-09T10:29:15.465" v="17"/>
          <ac:spMkLst>
            <pc:docMk/>
            <pc:sldMk cId="0" sldId="277"/>
            <ac:spMk id="5" creationId="{00000000-0000-0000-0000-000000000000}"/>
          </ac:spMkLst>
        </pc:spChg>
        <pc:picChg chg="add">
          <ac:chgData name="Sunil Punjabi" userId="S::sunilp@sies.edu.in::54bc86d2-8dba-49d0-883f-68a6dd9ca9c8" providerId="AD" clId="Web-{14959218-8B64-DC81-4D5F-11EB077886AA}" dt="2026-10-09T10:29:16.434" v="18"/>
          <ac:picMkLst>
            <pc:docMk/>
            <pc:sldMk cId="0" sldId="277"/>
            <ac:picMk id="7" creationId="{58DFFB6A-BB83-F6F0-2F54-E6B1FE39725B}"/>
          </ac:picMkLst>
        </pc:picChg>
      </pc:sldChg>
      <pc:sldChg chg="addSp delSp modSp">
        <pc:chgData name="Sunil Punjabi" userId="S::sunilp@sies.edu.in::54bc86d2-8dba-49d0-883f-68a6dd9ca9c8" providerId="AD" clId="Web-{14959218-8B64-DC81-4D5F-11EB077886AA}" dt="2026-10-09T10:27:41.462" v="11" actId="1076"/>
        <pc:sldMkLst>
          <pc:docMk/>
          <pc:sldMk cId="282274527" sldId="279"/>
        </pc:sldMkLst>
        <pc:spChg chg="del">
          <ac:chgData name="Sunil Punjabi" userId="S::sunilp@sies.edu.in::54bc86d2-8dba-49d0-883f-68a6dd9ca9c8" providerId="AD" clId="Web-{14959218-8B64-DC81-4D5F-11EB077886AA}" dt="2026-10-09T10:27:27.759" v="9"/>
          <ac:spMkLst>
            <pc:docMk/>
            <pc:sldMk cId="282274527" sldId="279"/>
            <ac:spMk id="5" creationId="{2454B28C-EB6F-D3E1-C3B3-D690F1C1B7E4}"/>
          </ac:spMkLst>
        </pc:spChg>
        <pc:picChg chg="add mod">
          <ac:chgData name="Sunil Punjabi" userId="S::sunilp@sies.edu.in::54bc86d2-8dba-49d0-883f-68a6dd9ca9c8" providerId="AD" clId="Web-{14959218-8B64-DC81-4D5F-11EB077886AA}" dt="2026-10-09T10:27:41.462" v="11" actId="1076"/>
          <ac:picMkLst>
            <pc:docMk/>
            <pc:sldMk cId="282274527" sldId="279"/>
            <ac:picMk id="8" creationId="{B4562E6C-EB85-BCC5-4D6C-EBC548206A8F}"/>
          </ac:picMkLst>
        </pc:picChg>
      </pc:sldChg>
      <pc:sldChg chg="del">
        <pc:chgData name="Sunil Punjabi" userId="S::sunilp@sies.edu.in::54bc86d2-8dba-49d0-883f-68a6dd9ca9c8" providerId="AD" clId="Web-{14959218-8B64-DC81-4D5F-11EB077886AA}" dt="2026-10-09T10:28:39.542" v="14"/>
        <pc:sldMkLst>
          <pc:docMk/>
          <pc:sldMk cId="107518383" sldId="280"/>
        </pc:sldMkLst>
      </pc:sldChg>
      <pc:sldChg chg="addSp delSp">
        <pc:chgData name="Sunil Punjabi" userId="S::sunilp@sies.edu.in::54bc86d2-8dba-49d0-883f-68a6dd9ca9c8" providerId="AD" clId="Web-{14959218-8B64-DC81-4D5F-11EB077886AA}" dt="2026-10-09T10:29:10.434" v="16"/>
        <pc:sldMkLst>
          <pc:docMk/>
          <pc:sldMk cId="2121743570" sldId="281"/>
        </pc:sldMkLst>
        <pc:spChg chg="del">
          <ac:chgData name="Sunil Punjabi" userId="S::sunilp@sies.edu.in::54bc86d2-8dba-49d0-883f-68a6dd9ca9c8" providerId="AD" clId="Web-{14959218-8B64-DC81-4D5F-11EB077886AA}" dt="2026-10-09T10:29:09.371" v="15"/>
          <ac:spMkLst>
            <pc:docMk/>
            <pc:sldMk cId="2121743570" sldId="281"/>
            <ac:spMk id="9" creationId="{ECBFB9B7-3DC3-7F18-C78E-CFE1A34DEA03}"/>
          </ac:spMkLst>
        </pc:spChg>
        <pc:picChg chg="add">
          <ac:chgData name="Sunil Punjabi" userId="S::sunilp@sies.edu.in::54bc86d2-8dba-49d0-883f-68a6dd9ca9c8" providerId="AD" clId="Web-{14959218-8B64-DC81-4D5F-11EB077886AA}" dt="2026-10-09T10:29:10.434" v="16"/>
          <ac:picMkLst>
            <pc:docMk/>
            <pc:sldMk cId="2121743570" sldId="281"/>
            <ac:picMk id="10" creationId="{4910CBF4-9484-B04F-1031-85C675B50964}"/>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0FE647B-DDC5-4C4B-8E80-742769D43E86}" type="datetimeFigureOut">
              <a:rPr lang="en-IN" smtClean="0"/>
              <a:t>23-10-2026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D8FB550-13BC-4DAA-B35F-9764F6E70D61}" type="slidenum">
              <a:rPr lang="en-IN" smtClean="0"/>
              <a:t>‹#›</a:t>
            </a:fld>
            <a:endParaRPr lang="en-IN"/>
          </a:p>
        </p:txBody>
      </p:sp>
    </p:spTree>
    <p:extLst>
      <p:ext uri="{BB962C8B-B14F-4D97-AF65-F5344CB8AC3E}">
        <p14:creationId xmlns:p14="http://schemas.microsoft.com/office/powerpoint/2010/main" val="20039745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10/23/2026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10/23/2026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10/23/2026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10/23/2026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10/23/2026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10/23/2026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694215" y="1626231"/>
            <a:ext cx="13716000" cy="4112966"/>
            <a:chOff x="0" y="0"/>
            <a:chExt cx="18288000" cy="5483955"/>
          </a:xfrm>
        </p:grpSpPr>
        <p:sp>
          <p:nvSpPr>
            <p:cNvPr id="3" name="Freeform 3"/>
            <p:cNvSpPr/>
            <p:nvPr/>
          </p:nvSpPr>
          <p:spPr>
            <a:xfrm>
              <a:off x="0" y="0"/>
              <a:ext cx="18288000" cy="5483955"/>
            </a:xfrm>
            <a:custGeom>
              <a:avLst/>
              <a:gdLst/>
              <a:ahLst/>
              <a:cxnLst/>
              <a:rect l="l" t="t" r="r" b="b"/>
              <a:pathLst>
                <a:path w="18288000" h="5483955">
                  <a:moveTo>
                    <a:pt x="0" y="0"/>
                  </a:moveTo>
                  <a:lnTo>
                    <a:pt x="18288000" y="0"/>
                  </a:lnTo>
                  <a:lnTo>
                    <a:pt x="18288000" y="5483955"/>
                  </a:lnTo>
                  <a:lnTo>
                    <a:pt x="0" y="5483955"/>
                  </a:lnTo>
                  <a:close/>
                </a:path>
              </a:pathLst>
            </a:custGeom>
            <a:solidFill>
              <a:srgbClr val="000000">
                <a:alpha val="0"/>
              </a:srgbClr>
            </a:solidFill>
          </p:spPr>
          <p:txBody>
            <a:bodyPr/>
            <a:lstStyle/>
            <a:p>
              <a:endParaRPr lang="en-IN"/>
            </a:p>
          </p:txBody>
        </p:sp>
        <p:sp>
          <p:nvSpPr>
            <p:cNvPr id="4" name="TextBox 4"/>
            <p:cNvSpPr txBox="1"/>
            <p:nvPr/>
          </p:nvSpPr>
          <p:spPr>
            <a:xfrm>
              <a:off x="0" y="-57150"/>
              <a:ext cx="18288000" cy="5541105"/>
            </a:xfrm>
            <a:prstGeom prst="rect">
              <a:avLst/>
            </a:prstGeom>
          </p:spPr>
          <p:txBody>
            <a:bodyPr lIns="0" tIns="0" rIns="0" bIns="0" rtlCol="0" anchor="b"/>
            <a:lstStyle/>
            <a:p>
              <a:pPr algn="ctr">
                <a:lnSpc>
                  <a:spcPts val="7144"/>
                </a:lnSpc>
              </a:pPr>
              <a:endParaRPr dirty="0"/>
            </a:p>
            <a:p>
              <a:pPr algn="ctr">
                <a:lnSpc>
                  <a:spcPts val="5248"/>
                </a:lnSpc>
              </a:pPr>
              <a:r>
                <a:rPr lang="en-US" sz="4850" b="1" dirty="0">
                  <a:solidFill>
                    <a:srgbClr val="000000"/>
                  </a:solidFill>
                  <a:latin typeface="Times New Roman Bold"/>
                  <a:ea typeface="Times New Roman Bold"/>
                  <a:cs typeface="Times New Roman Bold"/>
                  <a:sym typeface="Times New Roman Bold"/>
                </a:rPr>
                <a:t>Mini Project Presentation</a:t>
              </a:r>
              <a:endParaRPr lang="en-US" sz="4850" b="1" dirty="0">
                <a:solidFill>
                  <a:srgbClr val="000000"/>
                </a:solidFill>
                <a:latin typeface="Times New Roman Bold"/>
                <a:ea typeface="Times New Roman Bold"/>
                <a:cs typeface="Times New Roman Bold"/>
              </a:endParaRPr>
            </a:p>
            <a:p>
              <a:pPr algn="ctr">
                <a:lnSpc>
                  <a:spcPts val="5248"/>
                </a:lnSpc>
              </a:pPr>
              <a:r>
                <a:rPr lang="en-US" sz="4859" b="1" dirty="0">
                  <a:solidFill>
                    <a:srgbClr val="000000"/>
                  </a:solidFill>
                  <a:latin typeface="Times New Roman Bold"/>
                  <a:ea typeface="Times New Roman Bold"/>
                  <a:cs typeface="Times New Roman Bold"/>
                  <a:sym typeface="Times New Roman Bold"/>
                </a:rPr>
                <a:t>On </a:t>
              </a:r>
            </a:p>
            <a:p>
              <a:pPr algn="ctr">
                <a:lnSpc>
                  <a:spcPts val="5248"/>
                </a:lnSpc>
              </a:pPr>
              <a:r>
                <a:rPr lang="en-US" sz="4859" b="1" dirty="0" err="1" smtClean="0">
                  <a:solidFill>
                    <a:srgbClr val="000000"/>
                  </a:solidFill>
                  <a:latin typeface="Times New Roman Bold"/>
                  <a:ea typeface="Times New Roman Bold"/>
                  <a:cs typeface="Times New Roman Bold"/>
                  <a:sym typeface="Times New Roman Bold"/>
                </a:rPr>
                <a:t>FootBallIQ</a:t>
              </a:r>
              <a:endParaRPr lang="en-US" sz="4859" b="1" dirty="0">
                <a:solidFill>
                  <a:srgbClr val="000000"/>
                </a:solidFill>
                <a:latin typeface="Times New Roman Bold"/>
                <a:ea typeface="Times New Roman Bold"/>
                <a:cs typeface="Times New Roman Bold"/>
                <a:sym typeface="Times New Roman Bold"/>
              </a:endParaRPr>
            </a:p>
          </p:txBody>
        </p:sp>
      </p:grpSp>
      <p:grpSp>
        <p:nvGrpSpPr>
          <p:cNvPr id="5" name="Group 5"/>
          <p:cNvGrpSpPr/>
          <p:nvPr/>
        </p:nvGrpSpPr>
        <p:grpSpPr>
          <a:xfrm>
            <a:off x="4303395" y="5972161"/>
            <a:ext cx="9117327" cy="2483643"/>
            <a:chOff x="0" y="0"/>
            <a:chExt cx="12156436" cy="3311524"/>
          </a:xfrm>
        </p:grpSpPr>
        <p:sp>
          <p:nvSpPr>
            <p:cNvPr id="6" name="Freeform 6"/>
            <p:cNvSpPr/>
            <p:nvPr/>
          </p:nvSpPr>
          <p:spPr>
            <a:xfrm>
              <a:off x="0" y="0"/>
              <a:ext cx="12156436" cy="3311524"/>
            </a:xfrm>
            <a:custGeom>
              <a:avLst/>
              <a:gdLst/>
              <a:ahLst/>
              <a:cxnLst/>
              <a:rect l="l" t="t" r="r" b="b"/>
              <a:pathLst>
                <a:path w="12156436" h="3311524">
                  <a:moveTo>
                    <a:pt x="0" y="0"/>
                  </a:moveTo>
                  <a:lnTo>
                    <a:pt x="12156436" y="0"/>
                  </a:lnTo>
                  <a:lnTo>
                    <a:pt x="12156436" y="3311524"/>
                  </a:lnTo>
                  <a:lnTo>
                    <a:pt x="0" y="3311524"/>
                  </a:lnTo>
                  <a:close/>
                </a:path>
              </a:pathLst>
            </a:custGeom>
            <a:solidFill>
              <a:srgbClr val="000000">
                <a:alpha val="0"/>
              </a:srgbClr>
            </a:solidFill>
          </p:spPr>
          <p:txBody>
            <a:bodyPr/>
            <a:lstStyle/>
            <a:p>
              <a:endParaRPr lang="en-IN"/>
            </a:p>
          </p:txBody>
        </p:sp>
        <p:sp>
          <p:nvSpPr>
            <p:cNvPr id="7" name="TextBox 7"/>
            <p:cNvSpPr txBox="1"/>
            <p:nvPr/>
          </p:nvSpPr>
          <p:spPr>
            <a:xfrm>
              <a:off x="0" y="-28575"/>
              <a:ext cx="12156436" cy="3340099"/>
            </a:xfrm>
            <a:prstGeom prst="rect">
              <a:avLst/>
            </a:prstGeom>
          </p:spPr>
          <p:txBody>
            <a:bodyPr lIns="0" tIns="0" rIns="0" bIns="0" rtlCol="0" anchor="t"/>
            <a:lstStyle/>
            <a:p>
              <a:pPr algn="ctr">
                <a:lnSpc>
                  <a:spcPts val="3888"/>
                </a:lnSpc>
              </a:pPr>
              <a:r>
                <a:rPr lang="en-US" sz="3600" dirty="0">
                  <a:solidFill>
                    <a:srgbClr val="000000"/>
                  </a:solidFill>
                  <a:latin typeface="Times New Roman"/>
                  <a:ea typeface="Times New Roman"/>
                  <a:cs typeface="Times New Roman"/>
                  <a:sym typeface="Times New Roman"/>
                </a:rPr>
                <a:t>         Presented By	-</a:t>
              </a:r>
            </a:p>
            <a:p>
              <a:pPr algn="ctr">
                <a:lnSpc>
                  <a:spcPts val="3402"/>
                </a:lnSpc>
              </a:pPr>
              <a:r>
                <a:rPr lang="en-US" sz="3200" b="1" dirty="0" smtClean="0">
                  <a:solidFill>
                    <a:srgbClr val="000000"/>
                  </a:solidFill>
                  <a:latin typeface="Times New Roman"/>
                  <a:ea typeface="Times New Roman"/>
                  <a:cs typeface="Times New Roman"/>
                  <a:sym typeface="Times New Roman"/>
                </a:rPr>
                <a:t>Name:</a:t>
              </a:r>
              <a:r>
                <a:rPr lang="en-US" sz="3200" dirty="0" smtClean="0">
                  <a:solidFill>
                    <a:srgbClr val="000000"/>
                  </a:solidFill>
                  <a:latin typeface="Times New Roman"/>
                  <a:ea typeface="Times New Roman"/>
                  <a:cs typeface="Times New Roman"/>
                  <a:sym typeface="Times New Roman"/>
                </a:rPr>
                <a:t> </a:t>
              </a:r>
              <a:r>
                <a:rPr lang="en-US" sz="3200" dirty="0" err="1" smtClean="0">
                  <a:solidFill>
                    <a:srgbClr val="000000"/>
                  </a:solidFill>
                  <a:latin typeface="Times New Roman"/>
                  <a:ea typeface="Times New Roman"/>
                  <a:cs typeface="Times New Roman"/>
                  <a:sym typeface="Times New Roman"/>
                </a:rPr>
                <a:t>Keshav</a:t>
              </a:r>
              <a:r>
                <a:rPr lang="en-US" sz="3200" dirty="0" smtClean="0">
                  <a:solidFill>
                    <a:srgbClr val="000000"/>
                  </a:solidFill>
                  <a:latin typeface="Times New Roman"/>
                  <a:ea typeface="Times New Roman"/>
                  <a:cs typeface="Times New Roman"/>
                  <a:sym typeface="Times New Roman"/>
                </a:rPr>
                <a:t> Sharma         </a:t>
              </a:r>
              <a:r>
                <a:rPr lang="en-US" sz="3200" b="1" dirty="0" smtClean="0">
                  <a:solidFill>
                    <a:srgbClr val="000000"/>
                  </a:solidFill>
                  <a:latin typeface="Times New Roman"/>
                  <a:ea typeface="Times New Roman"/>
                  <a:cs typeface="Times New Roman"/>
                  <a:sym typeface="Times New Roman"/>
                </a:rPr>
                <a:t>PRN:  </a:t>
              </a:r>
              <a:r>
                <a:rPr lang="en-US" sz="3200" dirty="0" smtClean="0">
                  <a:solidFill>
                    <a:srgbClr val="000000"/>
                  </a:solidFill>
                  <a:latin typeface="Times New Roman"/>
                  <a:ea typeface="Times New Roman"/>
                  <a:cs typeface="Times New Roman"/>
                  <a:sym typeface="Times New Roman"/>
                </a:rPr>
                <a:t>124A1150</a:t>
              </a:r>
            </a:p>
            <a:p>
              <a:pPr algn="ctr">
                <a:lnSpc>
                  <a:spcPts val="3402"/>
                </a:lnSpc>
              </a:pPr>
              <a:r>
                <a:rPr lang="en-US" sz="3200" b="1" dirty="0" smtClean="0">
                  <a:solidFill>
                    <a:srgbClr val="000000"/>
                  </a:solidFill>
                  <a:latin typeface="Times New Roman"/>
                  <a:ea typeface="Times New Roman"/>
                  <a:cs typeface="Times New Roman"/>
                  <a:sym typeface="Times New Roman"/>
                </a:rPr>
                <a:t>Name:</a:t>
              </a:r>
              <a:r>
                <a:rPr lang="en-US" sz="3200" dirty="0" smtClean="0">
                  <a:solidFill>
                    <a:srgbClr val="000000"/>
                  </a:solidFill>
                  <a:latin typeface="Times New Roman"/>
                  <a:ea typeface="Times New Roman"/>
                  <a:cs typeface="Times New Roman"/>
                  <a:sym typeface="Times New Roman"/>
                </a:rPr>
                <a:t> Mohammad Khalid   </a:t>
              </a:r>
              <a:r>
                <a:rPr lang="en-US" sz="3200" b="1" dirty="0" smtClean="0">
                  <a:solidFill>
                    <a:srgbClr val="000000"/>
                  </a:solidFill>
                  <a:latin typeface="Times New Roman"/>
                  <a:ea typeface="Times New Roman"/>
                  <a:cs typeface="Times New Roman"/>
                  <a:sym typeface="Times New Roman"/>
                </a:rPr>
                <a:t>PRN:  </a:t>
              </a:r>
              <a:r>
                <a:rPr lang="en-US" sz="3200" dirty="0" smtClean="0">
                  <a:solidFill>
                    <a:srgbClr val="000000"/>
                  </a:solidFill>
                  <a:latin typeface="Times New Roman"/>
                  <a:ea typeface="Times New Roman"/>
                  <a:cs typeface="Times New Roman"/>
                  <a:sym typeface="Times New Roman"/>
                </a:rPr>
                <a:t>124A1146</a:t>
              </a:r>
            </a:p>
            <a:p>
              <a:pPr algn="ctr">
                <a:lnSpc>
                  <a:spcPts val="3402"/>
                </a:lnSpc>
              </a:pPr>
              <a:r>
                <a:rPr lang="en-US" sz="3200" b="1" dirty="0" smtClean="0">
                  <a:solidFill>
                    <a:srgbClr val="000000"/>
                  </a:solidFill>
                  <a:latin typeface="Times New Roman"/>
                  <a:ea typeface="Times New Roman"/>
                  <a:cs typeface="Times New Roman"/>
                  <a:sym typeface="Times New Roman"/>
                </a:rPr>
                <a:t>Name:</a:t>
              </a:r>
              <a:r>
                <a:rPr lang="en-US" sz="3200" dirty="0" smtClean="0">
                  <a:solidFill>
                    <a:srgbClr val="000000"/>
                  </a:solidFill>
                  <a:latin typeface="Times New Roman"/>
                  <a:ea typeface="Times New Roman"/>
                  <a:cs typeface="Times New Roman"/>
                  <a:sym typeface="Times New Roman"/>
                </a:rPr>
                <a:t> </a:t>
              </a:r>
              <a:r>
                <a:rPr lang="en-US" sz="3200" dirty="0" err="1" smtClean="0">
                  <a:solidFill>
                    <a:srgbClr val="000000"/>
                  </a:solidFill>
                  <a:latin typeface="Times New Roman"/>
                  <a:ea typeface="Times New Roman"/>
                  <a:cs typeface="Times New Roman"/>
                  <a:sym typeface="Times New Roman"/>
                </a:rPr>
                <a:t>Pranjal</a:t>
              </a:r>
              <a:r>
                <a:rPr lang="en-US" sz="3200" dirty="0" smtClean="0">
                  <a:solidFill>
                    <a:srgbClr val="000000"/>
                  </a:solidFill>
                  <a:latin typeface="Times New Roman"/>
                  <a:ea typeface="Times New Roman"/>
                  <a:cs typeface="Times New Roman"/>
                  <a:sym typeface="Times New Roman"/>
                </a:rPr>
                <a:t> </a:t>
              </a:r>
              <a:r>
                <a:rPr lang="en-US" sz="3200" dirty="0" err="1" smtClean="0">
                  <a:solidFill>
                    <a:srgbClr val="000000"/>
                  </a:solidFill>
                  <a:latin typeface="Times New Roman"/>
                  <a:ea typeface="Times New Roman"/>
                  <a:cs typeface="Times New Roman"/>
                  <a:sym typeface="Times New Roman"/>
                </a:rPr>
                <a:t>Wadalkar</a:t>
              </a:r>
              <a:r>
                <a:rPr lang="en-US" sz="3200" dirty="0" smtClean="0">
                  <a:solidFill>
                    <a:srgbClr val="000000"/>
                  </a:solidFill>
                  <a:latin typeface="Times New Roman"/>
                  <a:ea typeface="Times New Roman"/>
                  <a:cs typeface="Times New Roman"/>
                  <a:sym typeface="Times New Roman"/>
                </a:rPr>
                <a:t>       </a:t>
              </a:r>
              <a:r>
                <a:rPr lang="en-US" sz="3200" b="1" dirty="0" smtClean="0">
                  <a:solidFill>
                    <a:srgbClr val="000000"/>
                  </a:solidFill>
                  <a:latin typeface="Times New Roman"/>
                  <a:ea typeface="Times New Roman"/>
                  <a:cs typeface="Times New Roman"/>
                  <a:sym typeface="Times New Roman"/>
                </a:rPr>
                <a:t>PRN:  </a:t>
              </a:r>
              <a:r>
                <a:rPr lang="en-US" sz="3200" dirty="0" smtClean="0">
                  <a:solidFill>
                    <a:srgbClr val="000000"/>
                  </a:solidFill>
                  <a:latin typeface="Times New Roman"/>
                  <a:ea typeface="Times New Roman"/>
                  <a:cs typeface="Times New Roman"/>
                  <a:sym typeface="Times New Roman"/>
                </a:rPr>
                <a:t>124A1181</a:t>
              </a:r>
            </a:p>
            <a:p>
              <a:pPr algn="ctr">
                <a:lnSpc>
                  <a:spcPts val="3402"/>
                </a:lnSpc>
              </a:pPr>
              <a:r>
                <a:rPr lang="en-US" sz="3200" b="1" dirty="0" smtClean="0">
                  <a:solidFill>
                    <a:srgbClr val="000000"/>
                  </a:solidFill>
                  <a:latin typeface="Times New Roman"/>
                  <a:ea typeface="Times New Roman"/>
                  <a:cs typeface="Times New Roman"/>
                  <a:sym typeface="Times New Roman"/>
                </a:rPr>
                <a:t>Name:</a:t>
              </a:r>
              <a:r>
                <a:rPr lang="en-US" sz="3200" dirty="0" smtClean="0">
                  <a:solidFill>
                    <a:srgbClr val="000000"/>
                  </a:solidFill>
                  <a:latin typeface="Times New Roman"/>
                  <a:ea typeface="Times New Roman"/>
                  <a:cs typeface="Times New Roman"/>
                  <a:sym typeface="Times New Roman"/>
                </a:rPr>
                <a:t> Milind </a:t>
              </a:r>
              <a:r>
                <a:rPr lang="en-US" sz="3200" dirty="0" err="1" smtClean="0">
                  <a:solidFill>
                    <a:srgbClr val="000000"/>
                  </a:solidFill>
                  <a:latin typeface="Times New Roman"/>
                  <a:ea typeface="Times New Roman"/>
                  <a:cs typeface="Times New Roman"/>
                  <a:sym typeface="Times New Roman"/>
                </a:rPr>
                <a:t>Sahu</a:t>
              </a:r>
              <a:r>
                <a:rPr lang="en-US" sz="3200" dirty="0" smtClean="0">
                  <a:solidFill>
                    <a:srgbClr val="000000"/>
                  </a:solidFill>
                  <a:latin typeface="Times New Roman"/>
                  <a:ea typeface="Times New Roman"/>
                  <a:cs typeface="Times New Roman"/>
                  <a:sym typeface="Times New Roman"/>
                </a:rPr>
                <a:t>               </a:t>
              </a:r>
              <a:r>
                <a:rPr lang="en-US" sz="3200" b="1" dirty="0" smtClean="0">
                  <a:solidFill>
                    <a:srgbClr val="000000"/>
                  </a:solidFill>
                  <a:latin typeface="Times New Roman"/>
                  <a:ea typeface="Times New Roman"/>
                  <a:cs typeface="Times New Roman"/>
                  <a:sym typeface="Times New Roman"/>
                </a:rPr>
                <a:t>PRN:  </a:t>
              </a:r>
              <a:r>
                <a:rPr lang="en-US" sz="3200" dirty="0" smtClean="0">
                  <a:solidFill>
                    <a:srgbClr val="000000"/>
                  </a:solidFill>
                  <a:latin typeface="Times New Roman"/>
                  <a:ea typeface="Times New Roman"/>
                  <a:cs typeface="Times New Roman"/>
                  <a:sym typeface="Times New Roman"/>
                </a:rPr>
                <a:t>124A1139 </a:t>
              </a:r>
              <a:endParaRPr lang="en-US" sz="3200" dirty="0">
                <a:solidFill>
                  <a:srgbClr val="000000"/>
                </a:solidFill>
                <a:latin typeface="Times New Roman"/>
                <a:ea typeface="Times New Roman"/>
                <a:cs typeface="Times New Roman"/>
                <a:sym typeface="Times New Roman"/>
              </a:endParaRPr>
            </a:p>
          </p:txBody>
        </p:sp>
      </p:grpSp>
      <p:grpSp>
        <p:nvGrpSpPr>
          <p:cNvPr id="8" name="Group 8"/>
          <p:cNvGrpSpPr/>
          <p:nvPr/>
        </p:nvGrpSpPr>
        <p:grpSpPr>
          <a:xfrm>
            <a:off x="3994440" y="1926033"/>
            <a:ext cx="11594520" cy="1155069"/>
            <a:chOff x="0" y="0"/>
            <a:chExt cx="15459360" cy="1292662"/>
          </a:xfrm>
        </p:grpSpPr>
        <p:sp>
          <p:nvSpPr>
            <p:cNvPr id="9" name="Freeform 9"/>
            <p:cNvSpPr/>
            <p:nvPr/>
          </p:nvSpPr>
          <p:spPr>
            <a:xfrm>
              <a:off x="0" y="0"/>
              <a:ext cx="15459360" cy="1292662"/>
            </a:xfrm>
            <a:custGeom>
              <a:avLst/>
              <a:gdLst/>
              <a:ahLst/>
              <a:cxnLst/>
              <a:rect l="l" t="t" r="r" b="b"/>
              <a:pathLst>
                <a:path w="15459360" h="1292662">
                  <a:moveTo>
                    <a:pt x="0" y="0"/>
                  </a:moveTo>
                  <a:lnTo>
                    <a:pt x="15459360" y="0"/>
                  </a:lnTo>
                  <a:lnTo>
                    <a:pt x="15459360" y="1292662"/>
                  </a:lnTo>
                  <a:lnTo>
                    <a:pt x="0" y="1292662"/>
                  </a:lnTo>
                  <a:close/>
                </a:path>
              </a:pathLst>
            </a:custGeom>
            <a:solidFill>
              <a:srgbClr val="000000">
                <a:alpha val="0"/>
              </a:srgbClr>
            </a:solidFill>
          </p:spPr>
          <p:txBody>
            <a:bodyPr/>
            <a:lstStyle/>
            <a:p>
              <a:endParaRPr lang="en-IN"/>
            </a:p>
          </p:txBody>
        </p:sp>
        <p:sp>
          <p:nvSpPr>
            <p:cNvPr id="10" name="TextBox 10"/>
            <p:cNvSpPr txBox="1"/>
            <p:nvPr/>
          </p:nvSpPr>
          <p:spPr>
            <a:xfrm>
              <a:off x="0" y="-104775"/>
              <a:ext cx="15459360" cy="1397437"/>
            </a:xfrm>
            <a:prstGeom prst="rect">
              <a:avLst/>
            </a:prstGeom>
          </p:spPr>
          <p:txBody>
            <a:bodyPr lIns="0" tIns="0" rIns="0" bIns="0" rtlCol="0" anchor="t"/>
            <a:lstStyle/>
            <a:p>
              <a:pPr algn="l">
                <a:lnSpc>
                  <a:spcPts val="6480"/>
                </a:lnSpc>
              </a:pPr>
              <a:r>
                <a:rPr lang="en-US" sz="5400" b="1" dirty="0">
                  <a:solidFill>
                    <a:srgbClr val="000000"/>
                  </a:solidFill>
                  <a:latin typeface="Times New Roman Bold"/>
                  <a:ea typeface="Times New Roman Bold"/>
                  <a:cs typeface="Times New Roman Bold"/>
                  <a:sym typeface="Times New Roman Bold"/>
                </a:rPr>
                <a:t>Department of Computer Engineering</a:t>
              </a:r>
            </a:p>
          </p:txBody>
        </p:sp>
      </p:grpSp>
      <p:sp>
        <p:nvSpPr>
          <p:cNvPr id="13" name="TextBox 12">
            <a:extLst>
              <a:ext uri="{FF2B5EF4-FFF2-40B4-BE49-F238E27FC236}">
                <a16:creationId xmlns:a16="http://schemas.microsoft.com/office/drawing/2014/main" id="{C83F03FC-B136-2B07-9275-813BB41F9A68}"/>
              </a:ext>
            </a:extLst>
          </p:cNvPr>
          <p:cNvSpPr txBox="1"/>
          <p:nvPr/>
        </p:nvSpPr>
        <p:spPr>
          <a:xfrm>
            <a:off x="6477000" y="8508517"/>
            <a:ext cx="6629400" cy="461665"/>
          </a:xfrm>
          <a:prstGeom prst="rect">
            <a:avLst/>
          </a:prstGeom>
          <a:noFill/>
        </p:spPr>
        <p:txBody>
          <a:bodyPr wrap="square" rtlCol="0">
            <a:spAutoFit/>
          </a:bodyPr>
          <a:lstStyle/>
          <a:p>
            <a:r>
              <a:rPr lang="en-IN" sz="2400" b="1" dirty="0"/>
              <a:t>Guided  By</a:t>
            </a:r>
            <a:r>
              <a:rPr lang="en-IN" sz="2400" b="1" dirty="0" smtClean="0"/>
              <a:t>: </a:t>
            </a:r>
            <a:r>
              <a:rPr lang="en-IN" sz="2400" b="1" dirty="0" err="1" smtClean="0"/>
              <a:t>Prof.</a:t>
            </a:r>
            <a:r>
              <a:rPr lang="en-IN" sz="2400" b="1" dirty="0"/>
              <a:t> </a:t>
            </a:r>
            <a:r>
              <a:rPr lang="en-IN" sz="2400" b="1" dirty="0" err="1"/>
              <a:t>Reena</a:t>
            </a:r>
            <a:r>
              <a:rPr lang="en-IN" sz="2400" b="1" dirty="0"/>
              <a:t> </a:t>
            </a:r>
            <a:r>
              <a:rPr lang="en-IN" sz="2400" b="1" dirty="0" err="1"/>
              <a:t>Gharat</a:t>
            </a:r>
            <a:endParaRPr lang="en-IN" sz="2400" b="1" dirty="0"/>
          </a:p>
        </p:txBody>
      </p:sp>
      <p:pic>
        <p:nvPicPr>
          <p:cNvPr id="14" name="Picture 13">
            <a:extLst>
              <a:ext uri="{FF2B5EF4-FFF2-40B4-BE49-F238E27FC236}">
                <a16:creationId xmlns:a16="http://schemas.microsoft.com/office/drawing/2014/main" id="{1F0D420E-600A-B345-3A16-1C23AD860F18}"/>
              </a:ext>
            </a:extLst>
          </p:cNvPr>
          <p:cNvPicPr>
            <a:picLocks noChangeAspect="1"/>
          </p:cNvPicPr>
          <p:nvPr/>
        </p:nvPicPr>
        <p:blipFill>
          <a:blip r:embed="rId2"/>
          <a:stretch>
            <a:fillRect/>
          </a:stretch>
        </p:blipFill>
        <p:spPr>
          <a:xfrm>
            <a:off x="7424657" y="1292"/>
            <a:ext cx="3496805" cy="171320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4" name="Group 2"/>
          <p:cNvGrpSpPr/>
          <p:nvPr/>
        </p:nvGrpSpPr>
        <p:grpSpPr>
          <a:xfrm>
            <a:off x="990600" y="547044"/>
            <a:ext cx="15826740" cy="1574722"/>
            <a:chOff x="0" y="-225908"/>
            <a:chExt cx="21102320" cy="2877034"/>
          </a:xfrm>
        </p:grpSpPr>
        <p:sp>
          <p:nvSpPr>
            <p:cNvPr id="25" name="Freeform 3"/>
            <p:cNvSpPr/>
            <p:nvPr/>
          </p:nvSpPr>
          <p:spPr>
            <a:xfrm>
              <a:off x="0" y="0"/>
              <a:ext cx="21031200" cy="2651126"/>
            </a:xfrm>
            <a:custGeom>
              <a:avLst/>
              <a:gdLst/>
              <a:ahLst/>
              <a:cxnLst/>
              <a:rect l="l" t="t" r="r" b="b"/>
              <a:pathLst>
                <a:path w="21031200" h="2651126">
                  <a:moveTo>
                    <a:pt x="0" y="0"/>
                  </a:moveTo>
                  <a:lnTo>
                    <a:pt x="21031200" y="0"/>
                  </a:lnTo>
                  <a:lnTo>
                    <a:pt x="21031200" y="2651126"/>
                  </a:lnTo>
                  <a:lnTo>
                    <a:pt x="0" y="2651126"/>
                  </a:lnTo>
                  <a:close/>
                </a:path>
              </a:pathLst>
            </a:custGeom>
            <a:solidFill>
              <a:srgbClr val="000000">
                <a:alpha val="0"/>
              </a:srgbClr>
            </a:solidFill>
          </p:spPr>
          <p:txBody>
            <a:bodyPr/>
            <a:lstStyle/>
            <a:p>
              <a:endParaRPr lang="en-IN"/>
            </a:p>
          </p:txBody>
        </p:sp>
        <p:sp>
          <p:nvSpPr>
            <p:cNvPr id="26" name="TextBox 4"/>
            <p:cNvSpPr txBox="1"/>
            <p:nvPr/>
          </p:nvSpPr>
          <p:spPr>
            <a:xfrm>
              <a:off x="71120" y="-225908"/>
              <a:ext cx="21031200" cy="2708277"/>
            </a:xfrm>
            <a:prstGeom prst="rect">
              <a:avLst/>
            </a:prstGeom>
          </p:spPr>
          <p:txBody>
            <a:bodyPr lIns="0" tIns="0" rIns="0" bIns="0" rtlCol="0" anchor="ctr"/>
            <a:lstStyle/>
            <a:p>
              <a:pPr algn="l">
                <a:lnSpc>
                  <a:spcPts val="7128"/>
                </a:lnSpc>
              </a:pPr>
              <a:r>
                <a:rPr lang="en-US" sz="6600" b="1" dirty="0" smtClean="0">
                  <a:solidFill>
                    <a:srgbClr val="000000"/>
                  </a:solidFill>
                  <a:latin typeface="Times New Roman" panose="02020603050405020304" pitchFamily="18" charset="0"/>
                  <a:ea typeface="Times New Roman Bold"/>
                  <a:cs typeface="Times New Roman Bold"/>
                  <a:sym typeface="Times New Roman Bold"/>
                </a:rPr>
                <a:t>Introduction</a:t>
              </a:r>
              <a:endParaRPr lang="en-US" sz="6600" b="1" dirty="0">
                <a:solidFill>
                  <a:srgbClr val="000000"/>
                </a:solidFill>
                <a:latin typeface="Times New Roman" panose="02020603050405020304" pitchFamily="18" charset="0"/>
                <a:ea typeface="Times New Roman Bold"/>
                <a:cs typeface="Times New Roman Bold"/>
                <a:sym typeface="Times New Roman Bold"/>
              </a:endParaRPr>
            </a:p>
          </p:txBody>
        </p:sp>
      </p:grpSp>
      <p:sp>
        <p:nvSpPr>
          <p:cNvPr id="39" name="Freeform 6"/>
          <p:cNvSpPr/>
          <p:nvPr/>
        </p:nvSpPr>
        <p:spPr>
          <a:xfrm>
            <a:off x="6057900" y="9534525"/>
            <a:ext cx="6172200" cy="547688"/>
          </a:xfrm>
          <a:custGeom>
            <a:avLst/>
            <a:gdLst/>
            <a:ahLst/>
            <a:cxnLst/>
            <a:rect l="l" t="t" r="r" b="b"/>
            <a:pathLst>
              <a:path w="8229600" h="730250">
                <a:moveTo>
                  <a:pt x="0" y="0"/>
                </a:moveTo>
                <a:lnTo>
                  <a:pt x="8229600" y="0"/>
                </a:lnTo>
                <a:lnTo>
                  <a:pt x="8229600" y="730250"/>
                </a:lnTo>
                <a:lnTo>
                  <a:pt x="0" y="730250"/>
                </a:lnTo>
                <a:close/>
              </a:path>
            </a:pathLst>
          </a:custGeom>
          <a:solidFill>
            <a:srgbClr val="000000">
              <a:alpha val="0"/>
            </a:srgbClr>
          </a:solidFill>
        </p:spPr>
        <p:txBody>
          <a:bodyPr/>
          <a:lstStyle/>
          <a:p>
            <a:endParaRPr lang="en-IN"/>
          </a:p>
        </p:txBody>
      </p:sp>
      <p:sp>
        <p:nvSpPr>
          <p:cNvPr id="40" name="TextBox 7"/>
          <p:cNvSpPr txBox="1"/>
          <p:nvPr/>
        </p:nvSpPr>
        <p:spPr>
          <a:xfrm>
            <a:off x="6324600" y="9615297"/>
            <a:ext cx="6057900" cy="576263"/>
          </a:xfrm>
          <a:prstGeom prst="rect">
            <a:avLst/>
          </a:prstGeom>
        </p:spPr>
        <p:txBody>
          <a:bodyPr lIns="0" tIns="0" rIns="0" bIns="0" rtlCol="0" anchor="ctr"/>
          <a:lstStyle/>
          <a:p>
            <a:pPr algn="ctr">
              <a:lnSpc>
                <a:spcPts val="2160"/>
              </a:lnSpc>
            </a:pPr>
            <a:r>
              <a:rPr lang="en-US" sz="1800" dirty="0">
                <a:solidFill>
                  <a:srgbClr val="767676"/>
                </a:solidFill>
                <a:latin typeface="Times New Roman"/>
                <a:ea typeface="Times New Roman"/>
                <a:cs typeface="Times New Roman"/>
                <a:sym typeface="Times New Roman"/>
              </a:rPr>
              <a:t>Department of Computer Engineering</a:t>
            </a:r>
          </a:p>
        </p:txBody>
      </p:sp>
      <p:sp>
        <p:nvSpPr>
          <p:cNvPr id="41" name="TextBox 40"/>
          <p:cNvSpPr txBox="1"/>
          <p:nvPr/>
        </p:nvSpPr>
        <p:spPr>
          <a:xfrm>
            <a:off x="2240280" y="2240280"/>
            <a:ext cx="10881360" cy="594360"/>
          </a:xfrm>
          <a:prstGeom prst="rect">
            <a:avLst/>
          </a:prstGeom>
          <a:noFill/>
        </p:spPr>
        <p:txBody>
          <a:bodyPr wrap="square" lIns="0" tIns="0" rIns="0" bIns="0">
            <a:spAutoFit/>
          </a:bodyPr>
          <a:lstStyle/>
          <a:p>
            <a:r>
              <a:rPr sz="3600" b="1">
                <a:solidFill>
                  <a:srgbClr val="000000"/>
                </a:solidFill>
                <a:latin typeface="Trebuchet MS"/>
              </a:rPr>
              <a:t>What is FootballIQ?</a:t>
            </a:r>
          </a:p>
        </p:txBody>
      </p:sp>
      <p:sp>
        <p:nvSpPr>
          <p:cNvPr id="42" name="Rounded Rectangle 41"/>
          <p:cNvSpPr/>
          <p:nvPr/>
        </p:nvSpPr>
        <p:spPr>
          <a:xfrm>
            <a:off x="2103120" y="2926080"/>
            <a:ext cx="6949440" cy="5943600"/>
          </a:xfrm>
          <a:prstGeom prst="roundRect">
            <a:avLst/>
          </a:prstGeom>
          <a:solidFill>
            <a:srgbClr val="123524"/>
          </a:solidFill>
          <a:ln w="19050">
            <a:solidFill>
              <a:srgbClr val="264D3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2514600" y="3337560"/>
            <a:ext cx="6126480" cy="5120640"/>
          </a:xfrm>
          <a:prstGeom prst="rect">
            <a:avLst/>
          </a:prstGeom>
          <a:noFill/>
        </p:spPr>
        <p:txBody>
          <a:bodyPr wrap="square" lIns="0" tIns="0" rIns="0" bIns="0">
            <a:spAutoFit/>
          </a:bodyPr>
          <a:lstStyle/>
          <a:p>
            <a:pPr>
              <a:spcAft>
                <a:spcPts val="2000"/>
              </a:spcAft>
            </a:pPr>
            <a:r>
              <a:rPr sz="2400">
                <a:solidFill>
                  <a:srgbClr val="F2F0E4"/>
                </a:solidFill>
                <a:latin typeface="Calibri"/>
              </a:rPr>
              <a:t>A locally hosted web application that analyses pre-recorded football videos (MP4) without requiring special cameras or wearable sensors.</a:t>
            </a:r>
          </a:p>
          <a:p>
            <a:pPr>
              <a:spcAft>
                <a:spcPts val="1400"/>
              </a:spcAft>
            </a:pPr>
            <a:r>
              <a:rPr sz="2400" b="1">
                <a:solidFill>
                  <a:srgbClr val="C9FF3F"/>
                </a:solidFill>
                <a:latin typeface="Consolas"/>
              </a:rPr>
              <a:t>INPUTS REQUIRED:</a:t>
            </a:r>
          </a:p>
          <a:p>
            <a:pPr>
              <a:spcAft>
                <a:spcPts val="1000"/>
              </a:spcAft>
            </a:pPr>
            <a:r>
              <a:rPr sz="2100" b="1">
                <a:solidFill>
                  <a:srgbClr val="C9FF3F"/>
                </a:solidFill>
                <a:latin typeface="Calibri"/>
              </a:rPr>
              <a:t>• </a:t>
            </a:r>
            <a:r>
              <a:rPr sz="2100">
                <a:solidFill>
                  <a:srgbClr val="F2F0E4"/>
                </a:solidFill>
                <a:latin typeface="Calibri"/>
              </a:rPr>
              <a:t>Match video (standard broadcast or smartphone MP4 format)</a:t>
            </a:r>
          </a:p>
          <a:p>
            <a:pPr>
              <a:spcAft>
                <a:spcPts val="1000"/>
              </a:spcAft>
            </a:pPr>
            <a:r>
              <a:rPr sz="2100" b="1">
                <a:solidFill>
                  <a:srgbClr val="C9FF3F"/>
                </a:solidFill>
                <a:latin typeface="Calibri"/>
              </a:rPr>
              <a:t>• </a:t>
            </a:r>
            <a:r>
              <a:rPr sz="2100">
                <a:solidFill>
                  <a:srgbClr val="F2F0E4"/>
                </a:solidFill>
                <a:latin typeface="Calibri"/>
              </a:rPr>
              <a:t>Reference jersey samples (Team A &amp; Team B crops)</a:t>
            </a:r>
          </a:p>
          <a:p>
            <a:pPr>
              <a:spcAft>
                <a:spcPts val="1000"/>
              </a:spcAft>
            </a:pPr>
            <a:r>
              <a:rPr sz="2100" b="1">
                <a:solidFill>
                  <a:srgbClr val="C9FF3F"/>
                </a:solidFill>
                <a:latin typeface="Calibri"/>
              </a:rPr>
              <a:t>• </a:t>
            </a:r>
            <a:r>
              <a:rPr sz="2100">
                <a:solidFill>
                  <a:srgbClr val="F2F0E4"/>
                </a:solidFill>
                <a:latin typeface="Calibri"/>
              </a:rPr>
              <a:t>4 Pitch landmarks for metric homography projection</a:t>
            </a:r>
          </a:p>
          <a:p>
            <a:pPr>
              <a:spcBef>
                <a:spcPts val="1600"/>
              </a:spcBef>
            </a:pPr>
            <a:r>
              <a:rPr sz="1800" b="1">
                <a:solidFill>
                  <a:srgbClr val="C9FF3F"/>
                </a:solidFill>
                <a:latin typeface="Calibri"/>
              </a:rPr>
              <a:t>Unified Architecture: </a:t>
            </a:r>
            <a:r>
              <a:rPr sz="1800">
                <a:solidFill>
                  <a:srgbClr val="9FB8A8"/>
                </a:solidFill>
                <a:latin typeface="Calibri"/>
              </a:rPr>
              <a:t>The lightweight browser interface and command-line execution share the exact same modular Python computer vision pipeline.</a:t>
            </a:r>
          </a:p>
        </p:txBody>
      </p:sp>
      <p:sp>
        <p:nvSpPr>
          <p:cNvPr id="44" name="Rounded Rectangle 43"/>
          <p:cNvSpPr/>
          <p:nvPr/>
        </p:nvSpPr>
        <p:spPr>
          <a:xfrm>
            <a:off x="9418320" y="2926080"/>
            <a:ext cx="3840480" cy="2788920"/>
          </a:xfrm>
          <a:prstGeom prst="roundRect">
            <a:avLst/>
          </a:prstGeom>
          <a:solidFill>
            <a:srgbClr val="123524"/>
          </a:solidFill>
          <a:ln w="19050">
            <a:solidFill>
              <a:srgbClr val="264D3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9692640" y="3154680"/>
            <a:ext cx="3291840" cy="2331720"/>
          </a:xfrm>
          <a:prstGeom prst="rect">
            <a:avLst/>
          </a:prstGeom>
          <a:noFill/>
        </p:spPr>
        <p:txBody>
          <a:bodyPr wrap="square" lIns="0" tIns="0" rIns="0" bIns="0">
            <a:spAutoFit/>
          </a:bodyPr>
          <a:lstStyle/>
          <a:p>
            <a:pPr>
              <a:spcAft>
                <a:spcPts val="800"/>
              </a:spcAft>
            </a:pPr>
            <a:r>
              <a:rPr sz="1700" b="1">
                <a:solidFill>
                  <a:srgbClr val="C9FF3F"/>
                </a:solidFill>
                <a:latin typeface="Consolas"/>
              </a:rPr>
              <a:t>OUTPUT 01</a:t>
            </a:r>
          </a:p>
          <a:p>
            <a:pPr>
              <a:spcAft>
                <a:spcPts val="800"/>
              </a:spcAft>
            </a:pPr>
            <a:r>
              <a:rPr sz="2100" b="1">
                <a:solidFill>
                  <a:srgbClr val="F2F0E4"/>
                </a:solidFill>
                <a:latin typeface="Trebuchet MS"/>
              </a:rPr>
              <a:t>Player Tracks &amp; Team Labels</a:t>
            </a:r>
          </a:p>
          <a:p>
            <a:r>
              <a:rPr sz="1600">
                <a:solidFill>
                  <a:srgbClr val="9FB8A8"/>
                </a:solidFill>
                <a:latin typeface="Calibri"/>
              </a:rPr>
              <a:t>Bounding boxes, persistent tracking IDs, and jersey color-based team clustering.</a:t>
            </a:r>
          </a:p>
        </p:txBody>
      </p:sp>
      <p:sp>
        <p:nvSpPr>
          <p:cNvPr id="46" name="Rounded Rectangle 45"/>
          <p:cNvSpPr/>
          <p:nvPr/>
        </p:nvSpPr>
        <p:spPr>
          <a:xfrm>
            <a:off x="13624560" y="2926080"/>
            <a:ext cx="3840480" cy="2788920"/>
          </a:xfrm>
          <a:prstGeom prst="roundRect">
            <a:avLst/>
          </a:prstGeom>
          <a:solidFill>
            <a:srgbClr val="123524"/>
          </a:solidFill>
          <a:ln w="19050">
            <a:solidFill>
              <a:srgbClr val="264D3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13898880" y="3154680"/>
            <a:ext cx="3291840" cy="2331720"/>
          </a:xfrm>
          <a:prstGeom prst="rect">
            <a:avLst/>
          </a:prstGeom>
          <a:noFill/>
        </p:spPr>
        <p:txBody>
          <a:bodyPr wrap="square" lIns="0" tIns="0" rIns="0" bIns="0">
            <a:spAutoFit/>
          </a:bodyPr>
          <a:lstStyle/>
          <a:p>
            <a:pPr>
              <a:spcAft>
                <a:spcPts val="800"/>
              </a:spcAft>
            </a:pPr>
            <a:r>
              <a:rPr sz="1700" b="1">
                <a:solidFill>
                  <a:srgbClr val="C9FF3F"/>
                </a:solidFill>
                <a:latin typeface="Consolas"/>
              </a:rPr>
              <a:t>OUTPUT 02</a:t>
            </a:r>
          </a:p>
          <a:p>
            <a:pPr>
              <a:spcAft>
                <a:spcPts val="800"/>
              </a:spcAft>
            </a:pPr>
            <a:r>
              <a:rPr sz="2100" b="1">
                <a:solidFill>
                  <a:srgbClr val="F2F0E4"/>
                </a:solidFill>
                <a:latin typeface="Trebuchet MS"/>
              </a:rPr>
              <a:t>Bird's-Eye 2D Pitch View</a:t>
            </a:r>
          </a:p>
          <a:p>
            <a:r>
              <a:rPr sz="1600">
                <a:solidFill>
                  <a:srgbClr val="9FB8A8"/>
                </a:solidFill>
                <a:latin typeface="Calibri"/>
              </a:rPr>
              <a:t>Top-down orthographic radar mapping onto official pitch dimensions (105m x 68m).</a:t>
            </a:r>
          </a:p>
        </p:txBody>
      </p:sp>
      <p:sp>
        <p:nvSpPr>
          <p:cNvPr id="48" name="Rounded Rectangle 47"/>
          <p:cNvSpPr/>
          <p:nvPr/>
        </p:nvSpPr>
        <p:spPr>
          <a:xfrm>
            <a:off x="9418320" y="6080760"/>
            <a:ext cx="3840480" cy="2788920"/>
          </a:xfrm>
          <a:prstGeom prst="roundRect">
            <a:avLst/>
          </a:prstGeom>
          <a:solidFill>
            <a:srgbClr val="123524"/>
          </a:solidFill>
          <a:ln w="19050">
            <a:solidFill>
              <a:srgbClr val="264D3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9692640" y="6309360"/>
            <a:ext cx="3291840" cy="2331720"/>
          </a:xfrm>
          <a:prstGeom prst="rect">
            <a:avLst/>
          </a:prstGeom>
          <a:noFill/>
        </p:spPr>
        <p:txBody>
          <a:bodyPr wrap="square" lIns="0" tIns="0" rIns="0" bIns="0">
            <a:spAutoFit/>
          </a:bodyPr>
          <a:lstStyle/>
          <a:p>
            <a:pPr>
              <a:spcAft>
                <a:spcPts val="800"/>
              </a:spcAft>
            </a:pPr>
            <a:r>
              <a:rPr sz="1700" b="1">
                <a:solidFill>
                  <a:srgbClr val="C9FF3F"/>
                </a:solidFill>
                <a:latin typeface="Consolas"/>
              </a:rPr>
              <a:t>OUTPUT 03</a:t>
            </a:r>
          </a:p>
          <a:p>
            <a:pPr>
              <a:spcAft>
                <a:spcPts val="800"/>
              </a:spcAft>
            </a:pPr>
            <a:r>
              <a:rPr sz="2100" b="1">
                <a:solidFill>
                  <a:srgbClr val="F2F0E4"/>
                </a:solidFill>
                <a:latin typeface="Trebuchet MS"/>
              </a:rPr>
              <a:t>Movement Stats &amp; Heatmaps</a:t>
            </a:r>
          </a:p>
          <a:p>
            <a:r>
              <a:rPr sz="1600">
                <a:solidFill>
                  <a:srgbClr val="9FB8A8"/>
                </a:solidFill>
                <a:latin typeface="Calibri"/>
              </a:rPr>
              <a:t>Cumulative distance run, instantaneous speed, trajectory trails, and density heatmaps.</a:t>
            </a:r>
          </a:p>
        </p:txBody>
      </p:sp>
      <p:sp>
        <p:nvSpPr>
          <p:cNvPr id="50" name="Rounded Rectangle 49"/>
          <p:cNvSpPr/>
          <p:nvPr/>
        </p:nvSpPr>
        <p:spPr>
          <a:xfrm>
            <a:off x="13624560" y="6080760"/>
            <a:ext cx="3840480" cy="2788920"/>
          </a:xfrm>
          <a:prstGeom prst="roundRect">
            <a:avLst/>
          </a:prstGeom>
          <a:solidFill>
            <a:srgbClr val="123524"/>
          </a:solidFill>
          <a:ln w="19050">
            <a:solidFill>
              <a:srgbClr val="264D3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13898880" y="6309360"/>
            <a:ext cx="3291840" cy="2331720"/>
          </a:xfrm>
          <a:prstGeom prst="rect">
            <a:avLst/>
          </a:prstGeom>
          <a:noFill/>
        </p:spPr>
        <p:txBody>
          <a:bodyPr wrap="square" lIns="0" tIns="0" rIns="0" bIns="0">
            <a:spAutoFit/>
          </a:bodyPr>
          <a:lstStyle/>
          <a:p>
            <a:pPr>
              <a:spcAft>
                <a:spcPts val="800"/>
              </a:spcAft>
            </a:pPr>
            <a:r>
              <a:rPr sz="1700" b="1">
                <a:solidFill>
                  <a:srgbClr val="C9FF3F"/>
                </a:solidFill>
                <a:latin typeface="Consolas"/>
              </a:rPr>
              <a:t>OUTPUT 04</a:t>
            </a:r>
          </a:p>
          <a:p>
            <a:pPr>
              <a:spcAft>
                <a:spcPts val="800"/>
              </a:spcAft>
            </a:pPr>
            <a:r>
              <a:rPr sz="2100" b="1">
                <a:solidFill>
                  <a:srgbClr val="F2F0E4"/>
                </a:solidFill>
                <a:latin typeface="Trebuchet MS"/>
              </a:rPr>
              <a:t>Ball Tracking &amp; Possession (Opt.)</a:t>
            </a:r>
          </a:p>
          <a:p>
            <a:r>
              <a:rPr sz="1600">
                <a:solidFill>
                  <a:srgbClr val="9FB8A8"/>
                </a:solidFill>
                <a:latin typeface="Calibri"/>
              </a:rPr>
              <a:t>Kalman-filtered ball candidate detection and proximity-based possession share.</a:t>
            </a:r>
          </a:p>
        </p:txBody>
      </p:sp>
      <p:pic>
        <p:nvPicPr>
          <p:cNvPr id="19" name="Picture 18">
            <a:extLst>
              <a:ext uri="{FF2B5EF4-FFF2-40B4-BE49-F238E27FC236}">
                <a16:creationId xmlns:a16="http://schemas.microsoft.com/office/drawing/2014/main" id="{1F0D420E-600A-B345-3A16-1C23AD860F18}"/>
              </a:ext>
            </a:extLst>
          </p:cNvPr>
          <p:cNvPicPr>
            <a:picLocks noChangeAspect="1"/>
          </p:cNvPicPr>
          <p:nvPr/>
        </p:nvPicPr>
        <p:blipFill>
          <a:blip r:embed="rId2"/>
          <a:stretch>
            <a:fillRect/>
          </a:stretch>
        </p:blipFill>
        <p:spPr>
          <a:xfrm>
            <a:off x="14791195" y="69690"/>
            <a:ext cx="3496805" cy="1605366"/>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4" name="Group 2"/>
          <p:cNvGrpSpPr/>
          <p:nvPr/>
        </p:nvGrpSpPr>
        <p:grpSpPr>
          <a:xfrm>
            <a:off x="990600" y="547044"/>
            <a:ext cx="15826740" cy="1574722"/>
            <a:chOff x="0" y="-225908"/>
            <a:chExt cx="21102320" cy="2877034"/>
          </a:xfrm>
        </p:grpSpPr>
        <p:sp>
          <p:nvSpPr>
            <p:cNvPr id="25" name="Freeform 3"/>
            <p:cNvSpPr/>
            <p:nvPr/>
          </p:nvSpPr>
          <p:spPr>
            <a:xfrm>
              <a:off x="0" y="0"/>
              <a:ext cx="21031200" cy="2651126"/>
            </a:xfrm>
            <a:custGeom>
              <a:avLst/>
              <a:gdLst/>
              <a:ahLst/>
              <a:cxnLst/>
              <a:rect l="l" t="t" r="r" b="b"/>
              <a:pathLst>
                <a:path w="21031200" h="2651126">
                  <a:moveTo>
                    <a:pt x="0" y="0"/>
                  </a:moveTo>
                  <a:lnTo>
                    <a:pt x="21031200" y="0"/>
                  </a:lnTo>
                  <a:lnTo>
                    <a:pt x="21031200" y="2651126"/>
                  </a:lnTo>
                  <a:lnTo>
                    <a:pt x="0" y="2651126"/>
                  </a:lnTo>
                  <a:close/>
                </a:path>
              </a:pathLst>
            </a:custGeom>
            <a:solidFill>
              <a:srgbClr val="000000">
                <a:alpha val="0"/>
              </a:srgbClr>
            </a:solidFill>
          </p:spPr>
          <p:txBody>
            <a:bodyPr/>
            <a:lstStyle/>
            <a:p>
              <a:endParaRPr lang="en-IN"/>
            </a:p>
          </p:txBody>
        </p:sp>
        <p:sp>
          <p:nvSpPr>
            <p:cNvPr id="26" name="TextBox 4"/>
            <p:cNvSpPr txBox="1"/>
            <p:nvPr/>
          </p:nvSpPr>
          <p:spPr>
            <a:xfrm>
              <a:off x="71120" y="-225908"/>
              <a:ext cx="21031200" cy="2708277"/>
            </a:xfrm>
            <a:prstGeom prst="rect">
              <a:avLst/>
            </a:prstGeom>
          </p:spPr>
          <p:txBody>
            <a:bodyPr lIns="0" tIns="0" rIns="0" bIns="0" rtlCol="0" anchor="ctr"/>
            <a:lstStyle/>
            <a:p>
              <a:pPr algn="l">
                <a:lnSpc>
                  <a:spcPts val="7128"/>
                </a:lnSpc>
              </a:pPr>
              <a:r>
                <a:rPr lang="en-US" sz="6600" b="1" dirty="0" smtClean="0">
                  <a:solidFill>
                    <a:srgbClr val="000000"/>
                  </a:solidFill>
                  <a:latin typeface="Times New Roman" panose="02020603050405020304" pitchFamily="18" charset="0"/>
                  <a:ea typeface="Times New Roman Bold"/>
                  <a:cs typeface="Times New Roman Bold"/>
                  <a:sym typeface="Times New Roman Bold"/>
                </a:rPr>
                <a:t>Motivation</a:t>
              </a:r>
              <a:endParaRPr lang="en-US" sz="6600" b="1" dirty="0">
                <a:solidFill>
                  <a:srgbClr val="000000"/>
                </a:solidFill>
                <a:latin typeface="Times New Roman" panose="02020603050405020304" pitchFamily="18" charset="0"/>
                <a:ea typeface="Times New Roman Bold"/>
                <a:cs typeface="Times New Roman Bold"/>
                <a:sym typeface="Times New Roman Bold"/>
              </a:endParaRPr>
            </a:p>
          </p:txBody>
        </p:sp>
      </p:grpSp>
      <p:sp>
        <p:nvSpPr>
          <p:cNvPr id="39" name="Freeform 6"/>
          <p:cNvSpPr/>
          <p:nvPr/>
        </p:nvSpPr>
        <p:spPr>
          <a:xfrm>
            <a:off x="6057900" y="9534525"/>
            <a:ext cx="6172200" cy="547688"/>
          </a:xfrm>
          <a:custGeom>
            <a:avLst/>
            <a:gdLst/>
            <a:ahLst/>
            <a:cxnLst/>
            <a:rect l="l" t="t" r="r" b="b"/>
            <a:pathLst>
              <a:path w="8229600" h="730250">
                <a:moveTo>
                  <a:pt x="0" y="0"/>
                </a:moveTo>
                <a:lnTo>
                  <a:pt x="8229600" y="0"/>
                </a:lnTo>
                <a:lnTo>
                  <a:pt x="8229600" y="730250"/>
                </a:lnTo>
                <a:lnTo>
                  <a:pt x="0" y="730250"/>
                </a:lnTo>
                <a:close/>
              </a:path>
            </a:pathLst>
          </a:custGeom>
          <a:solidFill>
            <a:srgbClr val="000000">
              <a:alpha val="0"/>
            </a:srgbClr>
          </a:solidFill>
        </p:spPr>
        <p:txBody>
          <a:bodyPr/>
          <a:lstStyle/>
          <a:p>
            <a:endParaRPr lang="en-IN"/>
          </a:p>
        </p:txBody>
      </p:sp>
      <p:sp>
        <p:nvSpPr>
          <p:cNvPr id="40" name="TextBox 7"/>
          <p:cNvSpPr txBox="1"/>
          <p:nvPr/>
        </p:nvSpPr>
        <p:spPr>
          <a:xfrm>
            <a:off x="6324600" y="9615297"/>
            <a:ext cx="6057900" cy="576263"/>
          </a:xfrm>
          <a:prstGeom prst="rect">
            <a:avLst/>
          </a:prstGeom>
        </p:spPr>
        <p:txBody>
          <a:bodyPr lIns="0" tIns="0" rIns="0" bIns="0" rtlCol="0" anchor="ctr"/>
          <a:lstStyle/>
          <a:p>
            <a:pPr algn="ctr">
              <a:lnSpc>
                <a:spcPts val="2160"/>
              </a:lnSpc>
            </a:pPr>
            <a:r>
              <a:rPr lang="en-US" sz="1800" dirty="0">
                <a:solidFill>
                  <a:srgbClr val="767676"/>
                </a:solidFill>
                <a:latin typeface="Times New Roman"/>
                <a:ea typeface="Times New Roman"/>
                <a:cs typeface="Times New Roman"/>
                <a:sym typeface="Times New Roman"/>
              </a:rPr>
              <a:t>Department of Computer Engineering</a:t>
            </a:r>
          </a:p>
        </p:txBody>
      </p:sp>
      <p:sp>
        <p:nvSpPr>
          <p:cNvPr id="41" name="TextBox 40"/>
          <p:cNvSpPr txBox="1"/>
          <p:nvPr/>
        </p:nvSpPr>
        <p:spPr>
          <a:xfrm>
            <a:off x="1371600" y="2240280"/>
            <a:ext cx="10881360" cy="594360"/>
          </a:xfrm>
          <a:prstGeom prst="rect">
            <a:avLst/>
          </a:prstGeom>
          <a:noFill/>
        </p:spPr>
        <p:txBody>
          <a:bodyPr wrap="square" lIns="0" tIns="0" rIns="0" bIns="0">
            <a:spAutoFit/>
          </a:bodyPr>
          <a:lstStyle/>
          <a:p>
            <a:r>
              <a:rPr sz="3600" b="1">
                <a:solidFill>
                  <a:srgbClr val="000000"/>
                </a:solidFill>
                <a:latin typeface="Trebuchet MS"/>
              </a:rPr>
              <a:t>Footage Everywhere, Insight Nowhere</a:t>
            </a:r>
          </a:p>
        </p:txBody>
      </p:sp>
      <p:sp>
        <p:nvSpPr>
          <p:cNvPr id="42" name="Rounded Rectangle 41"/>
          <p:cNvSpPr/>
          <p:nvPr/>
        </p:nvSpPr>
        <p:spPr>
          <a:xfrm>
            <a:off x="1371600" y="2926080"/>
            <a:ext cx="4937760" cy="4846320"/>
          </a:xfrm>
          <a:prstGeom prst="roundRect">
            <a:avLst/>
          </a:prstGeom>
          <a:solidFill>
            <a:srgbClr val="123524"/>
          </a:solidFill>
          <a:ln w="19050">
            <a:solidFill>
              <a:srgbClr val="264D3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1737360" y="3337560"/>
            <a:ext cx="4206240" cy="4023360"/>
          </a:xfrm>
          <a:prstGeom prst="rect">
            <a:avLst/>
          </a:prstGeom>
          <a:noFill/>
        </p:spPr>
        <p:txBody>
          <a:bodyPr wrap="square" lIns="0" tIns="0" rIns="0" bIns="0">
            <a:spAutoFit/>
          </a:bodyPr>
          <a:lstStyle/>
          <a:p>
            <a:pPr>
              <a:spcAft>
                <a:spcPts val="1200"/>
              </a:spcAft>
            </a:pPr>
            <a:r>
              <a:rPr sz="7200" b="1">
                <a:solidFill>
                  <a:srgbClr val="C9FF3F"/>
                </a:solidFill>
                <a:latin typeface="Trebuchet MS"/>
              </a:rPr>
              <a:t>01</a:t>
            </a:r>
          </a:p>
          <a:p>
            <a:pPr>
              <a:spcAft>
                <a:spcPts val="1400"/>
              </a:spcAft>
            </a:pPr>
            <a:r>
              <a:rPr sz="2600" b="1">
                <a:solidFill>
                  <a:srgbClr val="F2F0E4"/>
                </a:solidFill>
                <a:latin typeface="Trebuchet MS"/>
              </a:rPr>
              <a:t>Untapped Match Footage</a:t>
            </a:r>
          </a:p>
          <a:p>
            <a:r>
              <a:rPr sz="2000">
                <a:solidFill>
                  <a:srgbClr val="9FB8A8"/>
                </a:solidFill>
                <a:latin typeface="Calibri"/>
              </a:rPr>
              <a:t>Clubs, academies, and collegiate teams record hours of match video every weekend, yet almost none of it is converted into objective, quantitative performance data.</a:t>
            </a:r>
          </a:p>
        </p:txBody>
      </p:sp>
      <p:sp>
        <p:nvSpPr>
          <p:cNvPr id="44" name="Rounded Rectangle 43"/>
          <p:cNvSpPr/>
          <p:nvPr/>
        </p:nvSpPr>
        <p:spPr>
          <a:xfrm>
            <a:off x="6766560" y="2926080"/>
            <a:ext cx="4937760" cy="4846320"/>
          </a:xfrm>
          <a:prstGeom prst="roundRect">
            <a:avLst/>
          </a:prstGeom>
          <a:solidFill>
            <a:srgbClr val="123524"/>
          </a:solidFill>
          <a:ln w="19050">
            <a:solidFill>
              <a:srgbClr val="264D3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7132320" y="3337560"/>
            <a:ext cx="4206240" cy="4023360"/>
          </a:xfrm>
          <a:prstGeom prst="rect">
            <a:avLst/>
          </a:prstGeom>
          <a:noFill/>
        </p:spPr>
        <p:txBody>
          <a:bodyPr wrap="square" lIns="0" tIns="0" rIns="0" bIns="0">
            <a:spAutoFit/>
          </a:bodyPr>
          <a:lstStyle/>
          <a:p>
            <a:pPr>
              <a:spcAft>
                <a:spcPts val="1200"/>
              </a:spcAft>
            </a:pPr>
            <a:r>
              <a:rPr sz="7200" b="1">
                <a:solidFill>
                  <a:srgbClr val="C9FF3F"/>
                </a:solidFill>
                <a:latin typeface="Trebuchet MS"/>
              </a:rPr>
              <a:t>02</a:t>
            </a:r>
          </a:p>
          <a:p>
            <a:pPr>
              <a:spcAft>
                <a:spcPts val="1400"/>
              </a:spcAft>
            </a:pPr>
            <a:r>
              <a:rPr sz="2600" b="1">
                <a:solidFill>
                  <a:srgbClr val="F2F0E4"/>
                </a:solidFill>
                <a:latin typeface="Trebuchet MS"/>
              </a:rPr>
              <a:t>Inconsistent Manual Review</a:t>
            </a:r>
          </a:p>
          <a:p>
            <a:r>
              <a:rPr sz="2000">
                <a:solidFill>
                  <a:srgbClr val="9FB8A8"/>
                </a:solidFill>
                <a:latin typeface="Calibri"/>
              </a:rPr>
              <a:t>Manual video tagging requires exhaustive hours of human labor, and subjective notes from different coaches or scouts rarely align across competitive fixtures.</a:t>
            </a:r>
          </a:p>
        </p:txBody>
      </p:sp>
      <p:sp>
        <p:nvSpPr>
          <p:cNvPr id="46" name="Rounded Rectangle 45"/>
          <p:cNvSpPr/>
          <p:nvPr/>
        </p:nvSpPr>
        <p:spPr>
          <a:xfrm>
            <a:off x="12161520" y="2926080"/>
            <a:ext cx="4937760" cy="4846320"/>
          </a:xfrm>
          <a:prstGeom prst="roundRect">
            <a:avLst/>
          </a:prstGeom>
          <a:solidFill>
            <a:srgbClr val="123524"/>
          </a:solidFill>
          <a:ln w="19050">
            <a:solidFill>
              <a:srgbClr val="264D3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12527280" y="3337560"/>
            <a:ext cx="4206240" cy="4023360"/>
          </a:xfrm>
          <a:prstGeom prst="rect">
            <a:avLst/>
          </a:prstGeom>
          <a:noFill/>
        </p:spPr>
        <p:txBody>
          <a:bodyPr wrap="square" lIns="0" tIns="0" rIns="0" bIns="0">
            <a:spAutoFit/>
          </a:bodyPr>
          <a:lstStyle/>
          <a:p>
            <a:pPr>
              <a:spcAft>
                <a:spcPts val="1200"/>
              </a:spcAft>
            </a:pPr>
            <a:r>
              <a:rPr sz="7200" b="1">
                <a:solidFill>
                  <a:srgbClr val="C9FF3F"/>
                </a:solidFill>
                <a:latin typeface="Trebuchet MS"/>
              </a:rPr>
              <a:t>03</a:t>
            </a:r>
          </a:p>
          <a:p>
            <a:pPr>
              <a:spcAft>
                <a:spcPts val="1400"/>
              </a:spcAft>
            </a:pPr>
            <a:r>
              <a:rPr sz="2600" b="1">
                <a:solidFill>
                  <a:srgbClr val="F2F0E4"/>
                </a:solidFill>
                <a:latin typeface="Trebuchet MS"/>
              </a:rPr>
              <a:t>Prohibitive Pro Systems</a:t>
            </a:r>
          </a:p>
          <a:p>
            <a:r>
              <a:rPr sz="2000">
                <a:solidFill>
                  <a:srgbClr val="9FB8A8"/>
                </a:solidFill>
                <a:latin typeface="Calibri"/>
              </a:rPr>
              <a:t>Commercial multi-camera tracking rigs (e.g., Catapult, STATSports, Hawk-Eye) cost tens of thousands of dollars—far too expensive for grassroots and amateur setups.</a:t>
            </a:r>
          </a:p>
        </p:txBody>
      </p:sp>
      <p:sp>
        <p:nvSpPr>
          <p:cNvPr id="48" name="Rounded Rectangle 47"/>
          <p:cNvSpPr/>
          <p:nvPr/>
        </p:nvSpPr>
        <p:spPr>
          <a:xfrm>
            <a:off x="1371600" y="8046720"/>
            <a:ext cx="15727680" cy="1280160"/>
          </a:xfrm>
          <a:prstGeom prst="roundRect">
            <a:avLst/>
          </a:prstGeom>
          <a:solidFill>
            <a:srgbClr val="C9FF3F"/>
          </a:solidFill>
          <a:ln w="19050">
            <a:solidFill>
              <a:srgbClr val="C9FF3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1737360" y="8275320"/>
            <a:ext cx="14996160" cy="822960"/>
          </a:xfrm>
          <a:prstGeom prst="rect">
            <a:avLst/>
          </a:prstGeom>
          <a:noFill/>
        </p:spPr>
        <p:txBody>
          <a:bodyPr wrap="square" lIns="0" tIns="0" rIns="0" bIns="0">
            <a:spAutoFit/>
          </a:bodyPr>
          <a:lstStyle/>
          <a:p>
            <a:r>
              <a:rPr sz="2400" b="1">
                <a:solidFill>
                  <a:srgbClr val="0A1A10"/>
                </a:solidFill>
                <a:latin typeface="Consolas"/>
              </a:rPr>
              <a:t>CORE MISSION: </a:t>
            </a:r>
            <a:r>
              <a:rPr sz="2200">
                <a:solidFill>
                  <a:srgbClr val="0A1A10"/>
                </a:solidFill>
                <a:latin typeface="Trebuchet MS"/>
              </a:rPr>
              <a:t>Provide an affordable, sensor-free, and automated way to extract tactical and physical performance metrics from everyday single-camera match video.</a:t>
            </a:r>
          </a:p>
        </p:txBody>
      </p:sp>
      <p:pic>
        <p:nvPicPr>
          <p:cNvPr id="17" name="Picture 16">
            <a:extLst>
              <a:ext uri="{FF2B5EF4-FFF2-40B4-BE49-F238E27FC236}">
                <a16:creationId xmlns:a16="http://schemas.microsoft.com/office/drawing/2014/main" id="{1F0D420E-600A-B345-3A16-1C23AD860F18}"/>
              </a:ext>
            </a:extLst>
          </p:cNvPr>
          <p:cNvPicPr>
            <a:picLocks noChangeAspect="1"/>
          </p:cNvPicPr>
          <p:nvPr/>
        </p:nvPicPr>
        <p:blipFill>
          <a:blip r:embed="rId2"/>
          <a:stretch>
            <a:fillRect/>
          </a:stretch>
        </p:blipFill>
        <p:spPr>
          <a:xfrm>
            <a:off x="14791195" y="0"/>
            <a:ext cx="3496805" cy="1605366"/>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4" name="Group 2"/>
          <p:cNvGrpSpPr/>
          <p:nvPr/>
        </p:nvGrpSpPr>
        <p:grpSpPr>
          <a:xfrm>
            <a:off x="990600" y="547044"/>
            <a:ext cx="15826740" cy="1574722"/>
            <a:chOff x="0" y="-225908"/>
            <a:chExt cx="21102320" cy="2877034"/>
          </a:xfrm>
        </p:grpSpPr>
        <p:sp>
          <p:nvSpPr>
            <p:cNvPr id="25" name="Freeform 3"/>
            <p:cNvSpPr/>
            <p:nvPr/>
          </p:nvSpPr>
          <p:spPr>
            <a:xfrm>
              <a:off x="0" y="0"/>
              <a:ext cx="21031200" cy="2651126"/>
            </a:xfrm>
            <a:custGeom>
              <a:avLst/>
              <a:gdLst/>
              <a:ahLst/>
              <a:cxnLst/>
              <a:rect l="l" t="t" r="r" b="b"/>
              <a:pathLst>
                <a:path w="21031200" h="2651126">
                  <a:moveTo>
                    <a:pt x="0" y="0"/>
                  </a:moveTo>
                  <a:lnTo>
                    <a:pt x="21031200" y="0"/>
                  </a:lnTo>
                  <a:lnTo>
                    <a:pt x="21031200" y="2651126"/>
                  </a:lnTo>
                  <a:lnTo>
                    <a:pt x="0" y="2651126"/>
                  </a:lnTo>
                  <a:close/>
                </a:path>
              </a:pathLst>
            </a:custGeom>
            <a:solidFill>
              <a:srgbClr val="000000">
                <a:alpha val="0"/>
              </a:srgbClr>
            </a:solidFill>
          </p:spPr>
          <p:txBody>
            <a:bodyPr/>
            <a:lstStyle/>
            <a:p>
              <a:endParaRPr lang="en-IN"/>
            </a:p>
          </p:txBody>
        </p:sp>
        <p:sp>
          <p:nvSpPr>
            <p:cNvPr id="26" name="TextBox 4"/>
            <p:cNvSpPr txBox="1"/>
            <p:nvPr/>
          </p:nvSpPr>
          <p:spPr>
            <a:xfrm>
              <a:off x="71120" y="-225908"/>
              <a:ext cx="21031200" cy="2708277"/>
            </a:xfrm>
            <a:prstGeom prst="rect">
              <a:avLst/>
            </a:prstGeom>
          </p:spPr>
          <p:txBody>
            <a:bodyPr lIns="0" tIns="0" rIns="0" bIns="0" rtlCol="0" anchor="ctr"/>
            <a:lstStyle/>
            <a:p>
              <a:pPr algn="l">
                <a:lnSpc>
                  <a:spcPts val="7128"/>
                </a:lnSpc>
              </a:pPr>
              <a:r>
                <a:rPr lang="en-US" sz="6600" b="1" dirty="0" smtClean="0">
                  <a:solidFill>
                    <a:srgbClr val="000000"/>
                  </a:solidFill>
                  <a:latin typeface="Times New Roman" panose="02020603050405020304" pitchFamily="18" charset="0"/>
                  <a:ea typeface="Times New Roman Bold"/>
                  <a:cs typeface="Times New Roman Bold"/>
                  <a:sym typeface="Times New Roman Bold"/>
                </a:rPr>
                <a:t>Problem Statement</a:t>
              </a:r>
              <a:endParaRPr lang="en-US" sz="6600" b="1" dirty="0">
                <a:solidFill>
                  <a:srgbClr val="000000"/>
                </a:solidFill>
                <a:latin typeface="Times New Roman" panose="02020603050405020304" pitchFamily="18" charset="0"/>
                <a:ea typeface="Times New Roman Bold"/>
                <a:cs typeface="Times New Roman Bold"/>
                <a:sym typeface="Times New Roman Bold"/>
              </a:endParaRPr>
            </a:p>
          </p:txBody>
        </p:sp>
      </p:grpSp>
      <p:sp>
        <p:nvSpPr>
          <p:cNvPr id="39" name="Freeform 6"/>
          <p:cNvSpPr/>
          <p:nvPr/>
        </p:nvSpPr>
        <p:spPr>
          <a:xfrm>
            <a:off x="6057900" y="9534525"/>
            <a:ext cx="6172200" cy="547688"/>
          </a:xfrm>
          <a:custGeom>
            <a:avLst/>
            <a:gdLst/>
            <a:ahLst/>
            <a:cxnLst/>
            <a:rect l="l" t="t" r="r" b="b"/>
            <a:pathLst>
              <a:path w="8229600" h="730250">
                <a:moveTo>
                  <a:pt x="0" y="0"/>
                </a:moveTo>
                <a:lnTo>
                  <a:pt x="8229600" y="0"/>
                </a:lnTo>
                <a:lnTo>
                  <a:pt x="8229600" y="730250"/>
                </a:lnTo>
                <a:lnTo>
                  <a:pt x="0" y="730250"/>
                </a:lnTo>
                <a:close/>
              </a:path>
            </a:pathLst>
          </a:custGeom>
          <a:solidFill>
            <a:srgbClr val="000000">
              <a:alpha val="0"/>
            </a:srgbClr>
          </a:solidFill>
        </p:spPr>
        <p:txBody>
          <a:bodyPr/>
          <a:lstStyle/>
          <a:p>
            <a:endParaRPr lang="en-IN"/>
          </a:p>
        </p:txBody>
      </p:sp>
      <p:sp>
        <p:nvSpPr>
          <p:cNvPr id="40" name="TextBox 7"/>
          <p:cNvSpPr txBox="1"/>
          <p:nvPr/>
        </p:nvSpPr>
        <p:spPr>
          <a:xfrm>
            <a:off x="6324600" y="9615297"/>
            <a:ext cx="6057900" cy="576263"/>
          </a:xfrm>
          <a:prstGeom prst="rect">
            <a:avLst/>
          </a:prstGeom>
        </p:spPr>
        <p:txBody>
          <a:bodyPr lIns="0" tIns="0" rIns="0" bIns="0" rtlCol="0" anchor="ctr"/>
          <a:lstStyle/>
          <a:p>
            <a:pPr algn="ctr">
              <a:lnSpc>
                <a:spcPts val="2160"/>
              </a:lnSpc>
            </a:pPr>
            <a:r>
              <a:rPr lang="en-US" sz="1800" dirty="0">
                <a:solidFill>
                  <a:srgbClr val="767676"/>
                </a:solidFill>
                <a:latin typeface="Times New Roman"/>
                <a:ea typeface="Times New Roman"/>
                <a:cs typeface="Times New Roman"/>
                <a:sym typeface="Times New Roman"/>
              </a:rPr>
              <a:t>Department of Computer Engineering</a:t>
            </a:r>
          </a:p>
        </p:txBody>
      </p:sp>
      <p:sp>
        <p:nvSpPr>
          <p:cNvPr id="41" name="TextBox 40"/>
          <p:cNvSpPr txBox="1"/>
          <p:nvPr/>
        </p:nvSpPr>
        <p:spPr>
          <a:xfrm>
            <a:off x="1097280" y="2240280"/>
            <a:ext cx="10881360" cy="594360"/>
          </a:xfrm>
          <a:prstGeom prst="rect">
            <a:avLst/>
          </a:prstGeom>
          <a:noFill/>
        </p:spPr>
        <p:txBody>
          <a:bodyPr wrap="square" lIns="0" tIns="0" rIns="0" bIns="0">
            <a:spAutoFit/>
          </a:bodyPr>
          <a:lstStyle/>
          <a:p>
            <a:r>
              <a:rPr sz="3600" b="1">
                <a:solidFill>
                  <a:srgbClr val="000000"/>
                </a:solidFill>
                <a:latin typeface="Trebuchet MS"/>
              </a:rPr>
              <a:t>Easy to Film. Hard to Measure.</a:t>
            </a:r>
          </a:p>
        </p:txBody>
      </p:sp>
      <p:sp>
        <p:nvSpPr>
          <p:cNvPr id="42" name="Rounded Rectangle 41"/>
          <p:cNvSpPr/>
          <p:nvPr/>
        </p:nvSpPr>
        <p:spPr>
          <a:xfrm>
            <a:off x="1097280" y="2926080"/>
            <a:ext cx="7132320" cy="6217920"/>
          </a:xfrm>
          <a:prstGeom prst="roundRect">
            <a:avLst/>
          </a:prstGeom>
          <a:solidFill>
            <a:srgbClr val="123524"/>
          </a:solidFill>
          <a:ln w="19050">
            <a:solidFill>
              <a:srgbClr val="264D3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1554480" y="3383280"/>
            <a:ext cx="6217920" cy="5303520"/>
          </a:xfrm>
          <a:prstGeom prst="rect">
            <a:avLst/>
          </a:prstGeom>
          <a:noFill/>
        </p:spPr>
        <p:txBody>
          <a:bodyPr wrap="square" lIns="0" tIns="0" rIns="0" bIns="0">
            <a:spAutoFit/>
          </a:bodyPr>
          <a:lstStyle/>
          <a:p>
            <a:pPr>
              <a:spcAft>
                <a:spcPts val="2400"/>
              </a:spcAft>
            </a:pPr>
            <a:r>
              <a:rPr sz="3000">
                <a:solidFill>
                  <a:srgbClr val="F2F0E4"/>
                </a:solidFill>
                <a:latin typeface="Calibri"/>
              </a:rPr>
              <a:t>Standard broadcast or smartphone video produces only raw 2D pixel coordinates with severe perspective distortion.</a:t>
            </a:r>
          </a:p>
          <a:p>
            <a:pPr>
              <a:spcAft>
                <a:spcPts val="1400"/>
              </a:spcAft>
            </a:pPr>
            <a:r>
              <a:rPr sz="2600" b="1">
                <a:solidFill>
                  <a:srgbClr val="C9FF3F"/>
                </a:solidFill>
                <a:latin typeface="Consolas"/>
              </a:rPr>
              <a:t>KEY HURDLE:</a:t>
            </a:r>
          </a:p>
          <a:p>
            <a:r>
              <a:rPr sz="2600">
                <a:solidFill>
                  <a:srgbClr val="F2F0E4"/>
                </a:solidFill>
                <a:latin typeface="Calibri"/>
              </a:rPr>
              <a:t>Without metric pitch homography, camera motion compensation, and continuous ID tracking, raw bounding boxes cannot compute accurate physical distance, speed, or team spatial shape.</a:t>
            </a:r>
          </a:p>
        </p:txBody>
      </p:sp>
      <p:sp>
        <p:nvSpPr>
          <p:cNvPr id="44" name="Rounded Rectangle 43"/>
          <p:cNvSpPr/>
          <p:nvPr/>
        </p:nvSpPr>
        <p:spPr>
          <a:xfrm>
            <a:off x="8595360" y="2926080"/>
            <a:ext cx="4114800" cy="2971800"/>
          </a:xfrm>
          <a:prstGeom prst="roundRect">
            <a:avLst/>
          </a:prstGeom>
          <a:solidFill>
            <a:srgbClr val="123524"/>
          </a:solidFill>
          <a:ln w="19050">
            <a:solidFill>
              <a:srgbClr val="264D3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8915400" y="3182112"/>
            <a:ext cx="3474720" cy="2459736"/>
          </a:xfrm>
          <a:prstGeom prst="rect">
            <a:avLst/>
          </a:prstGeom>
          <a:noFill/>
        </p:spPr>
        <p:txBody>
          <a:bodyPr wrap="square" lIns="0" tIns="0" rIns="0" bIns="0">
            <a:spAutoFit/>
          </a:bodyPr>
          <a:lstStyle/>
          <a:p>
            <a:pPr>
              <a:spcAft>
                <a:spcPts val="800"/>
              </a:spcAft>
            </a:pPr>
            <a:r>
              <a:rPr sz="2800" b="1">
                <a:solidFill>
                  <a:srgbClr val="C9FF3F"/>
                </a:solidFill>
                <a:latin typeface="Consolas"/>
              </a:rPr>
              <a:t>01</a:t>
            </a:r>
          </a:p>
          <a:p>
            <a:pPr>
              <a:spcAft>
                <a:spcPts val="800"/>
              </a:spcAft>
            </a:pPr>
            <a:r>
              <a:rPr sz="2100" b="1">
                <a:solidFill>
                  <a:srgbClr val="F2F0E4"/>
                </a:solidFill>
                <a:latin typeface="Trebuchet MS"/>
              </a:rPr>
              <a:t>Dynamic Pan &amp; Zoom</a:t>
            </a:r>
          </a:p>
          <a:p>
            <a:r>
              <a:rPr sz="1700">
                <a:solidFill>
                  <a:srgbClr val="9FB8A8"/>
                </a:solidFill>
                <a:latin typeface="Calibri"/>
              </a:rPr>
              <a:t>Shifting camera perspectives distort distances and require dynamic planar compensation.</a:t>
            </a:r>
          </a:p>
        </p:txBody>
      </p:sp>
      <p:sp>
        <p:nvSpPr>
          <p:cNvPr id="46" name="Rounded Rectangle 45"/>
          <p:cNvSpPr/>
          <p:nvPr/>
        </p:nvSpPr>
        <p:spPr>
          <a:xfrm>
            <a:off x="13075920" y="2926080"/>
            <a:ext cx="4114800" cy="2971800"/>
          </a:xfrm>
          <a:prstGeom prst="roundRect">
            <a:avLst/>
          </a:prstGeom>
          <a:solidFill>
            <a:srgbClr val="123524"/>
          </a:solidFill>
          <a:ln w="19050">
            <a:solidFill>
              <a:srgbClr val="264D3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13395960" y="3182112"/>
            <a:ext cx="3474720" cy="2459736"/>
          </a:xfrm>
          <a:prstGeom prst="rect">
            <a:avLst/>
          </a:prstGeom>
          <a:noFill/>
        </p:spPr>
        <p:txBody>
          <a:bodyPr wrap="square" lIns="0" tIns="0" rIns="0" bIns="0">
            <a:spAutoFit/>
          </a:bodyPr>
          <a:lstStyle/>
          <a:p>
            <a:pPr>
              <a:spcAft>
                <a:spcPts val="800"/>
              </a:spcAft>
            </a:pPr>
            <a:r>
              <a:rPr sz="2800" b="1">
                <a:solidFill>
                  <a:srgbClr val="C9FF3F"/>
                </a:solidFill>
                <a:latin typeface="Consolas"/>
              </a:rPr>
              <a:t>02</a:t>
            </a:r>
          </a:p>
          <a:p>
            <a:pPr>
              <a:spcAft>
                <a:spcPts val="800"/>
              </a:spcAft>
            </a:pPr>
            <a:r>
              <a:rPr sz="2100" b="1">
                <a:solidFill>
                  <a:srgbClr val="F2F0E4"/>
                </a:solidFill>
                <a:latin typeface="Trebuchet MS"/>
              </a:rPr>
              <a:t>Player Occlusions</a:t>
            </a:r>
          </a:p>
          <a:p>
            <a:r>
              <a:rPr sz="1700">
                <a:solidFill>
                  <a:srgbClr val="9FB8A8"/>
                </a:solidFill>
                <a:latin typeface="Calibri"/>
              </a:rPr>
              <a:t>Frequent overlaps and clusters in the box cause severe identity switches and track loss.</a:t>
            </a:r>
          </a:p>
        </p:txBody>
      </p:sp>
      <p:sp>
        <p:nvSpPr>
          <p:cNvPr id="48" name="Rounded Rectangle 47"/>
          <p:cNvSpPr/>
          <p:nvPr/>
        </p:nvSpPr>
        <p:spPr>
          <a:xfrm>
            <a:off x="8595360" y="6172200"/>
            <a:ext cx="4114800" cy="2971800"/>
          </a:xfrm>
          <a:prstGeom prst="roundRect">
            <a:avLst/>
          </a:prstGeom>
          <a:solidFill>
            <a:srgbClr val="123524"/>
          </a:solidFill>
          <a:ln w="19050">
            <a:solidFill>
              <a:srgbClr val="264D3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8915400" y="6428232"/>
            <a:ext cx="3474720" cy="2459736"/>
          </a:xfrm>
          <a:prstGeom prst="rect">
            <a:avLst/>
          </a:prstGeom>
          <a:noFill/>
        </p:spPr>
        <p:txBody>
          <a:bodyPr wrap="square" lIns="0" tIns="0" rIns="0" bIns="0">
            <a:spAutoFit/>
          </a:bodyPr>
          <a:lstStyle/>
          <a:p>
            <a:pPr>
              <a:spcAft>
                <a:spcPts val="800"/>
              </a:spcAft>
            </a:pPr>
            <a:r>
              <a:rPr sz="2800" b="1">
                <a:solidFill>
                  <a:srgbClr val="C9FF3F"/>
                </a:solidFill>
                <a:latin typeface="Consolas"/>
              </a:rPr>
              <a:t>03</a:t>
            </a:r>
          </a:p>
          <a:p>
            <a:pPr>
              <a:spcAft>
                <a:spcPts val="800"/>
              </a:spcAft>
            </a:pPr>
            <a:r>
              <a:rPr sz="2100" b="1">
                <a:solidFill>
                  <a:srgbClr val="F2F0E4"/>
                </a:solidFill>
                <a:latin typeface="Trebuchet MS"/>
              </a:rPr>
              <a:t>Lighting &amp; Kit Variance</a:t>
            </a:r>
          </a:p>
          <a:p>
            <a:r>
              <a:rPr sz="1700">
                <a:solidFill>
                  <a:srgbClr val="9FB8A8"/>
                </a:solidFill>
                <a:latin typeface="Calibri"/>
              </a:rPr>
              <a:t>Shadows, contrast, and similar opponent kits degrade simple color segmentations.</a:t>
            </a:r>
          </a:p>
        </p:txBody>
      </p:sp>
      <p:sp>
        <p:nvSpPr>
          <p:cNvPr id="50" name="Rounded Rectangle 49"/>
          <p:cNvSpPr/>
          <p:nvPr/>
        </p:nvSpPr>
        <p:spPr>
          <a:xfrm>
            <a:off x="13075920" y="6172200"/>
            <a:ext cx="4114800" cy="2971800"/>
          </a:xfrm>
          <a:prstGeom prst="roundRect">
            <a:avLst/>
          </a:prstGeom>
          <a:solidFill>
            <a:srgbClr val="123524"/>
          </a:solidFill>
          <a:ln w="19050">
            <a:solidFill>
              <a:srgbClr val="264D3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13395960" y="6428232"/>
            <a:ext cx="3474720" cy="2459736"/>
          </a:xfrm>
          <a:prstGeom prst="rect">
            <a:avLst/>
          </a:prstGeom>
          <a:noFill/>
        </p:spPr>
        <p:txBody>
          <a:bodyPr wrap="square" lIns="0" tIns="0" rIns="0" bIns="0">
            <a:spAutoFit/>
          </a:bodyPr>
          <a:lstStyle/>
          <a:p>
            <a:pPr>
              <a:spcAft>
                <a:spcPts val="800"/>
              </a:spcAft>
            </a:pPr>
            <a:r>
              <a:rPr sz="2800" b="1">
                <a:solidFill>
                  <a:srgbClr val="C9FF3F"/>
                </a:solidFill>
                <a:latin typeface="Consolas"/>
              </a:rPr>
              <a:t>04</a:t>
            </a:r>
          </a:p>
          <a:p>
            <a:pPr>
              <a:spcAft>
                <a:spcPts val="800"/>
              </a:spcAft>
            </a:pPr>
            <a:r>
              <a:rPr sz="2100" b="1">
                <a:solidFill>
                  <a:srgbClr val="F2F0E4"/>
                </a:solidFill>
                <a:latin typeface="Trebuchet MS"/>
              </a:rPr>
              <a:t>Small, High-Speed Ball</a:t>
            </a:r>
          </a:p>
          <a:p>
            <a:r>
              <a:rPr sz="1700">
                <a:solidFill>
                  <a:srgbClr val="9FB8A8"/>
                </a:solidFill>
                <a:latin typeface="Calibri"/>
              </a:rPr>
              <a:t>High velocity and tiny pixel footprints cause frequent candidate dropouts across frames.</a:t>
            </a:r>
          </a:p>
        </p:txBody>
      </p:sp>
      <p:pic>
        <p:nvPicPr>
          <p:cNvPr id="19" name="Picture 18">
            <a:extLst>
              <a:ext uri="{FF2B5EF4-FFF2-40B4-BE49-F238E27FC236}">
                <a16:creationId xmlns:a16="http://schemas.microsoft.com/office/drawing/2014/main" id="{1F0D420E-600A-B345-3A16-1C23AD860F18}"/>
              </a:ext>
            </a:extLst>
          </p:cNvPr>
          <p:cNvPicPr>
            <a:picLocks noChangeAspect="1"/>
          </p:cNvPicPr>
          <p:nvPr/>
        </p:nvPicPr>
        <p:blipFill>
          <a:blip r:embed="rId2"/>
          <a:stretch>
            <a:fillRect/>
          </a:stretch>
        </p:blipFill>
        <p:spPr>
          <a:xfrm>
            <a:off x="14791195" y="646"/>
            <a:ext cx="3496805" cy="1605366"/>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4" name="Group 2"/>
          <p:cNvGrpSpPr/>
          <p:nvPr/>
        </p:nvGrpSpPr>
        <p:grpSpPr>
          <a:xfrm>
            <a:off x="990600" y="547044"/>
            <a:ext cx="15826740" cy="1574722"/>
            <a:chOff x="0" y="-225908"/>
            <a:chExt cx="21102320" cy="2877034"/>
          </a:xfrm>
        </p:grpSpPr>
        <p:sp>
          <p:nvSpPr>
            <p:cNvPr id="25" name="Freeform 3"/>
            <p:cNvSpPr/>
            <p:nvPr/>
          </p:nvSpPr>
          <p:spPr>
            <a:xfrm>
              <a:off x="0" y="0"/>
              <a:ext cx="21031200" cy="2651126"/>
            </a:xfrm>
            <a:custGeom>
              <a:avLst/>
              <a:gdLst/>
              <a:ahLst/>
              <a:cxnLst/>
              <a:rect l="l" t="t" r="r" b="b"/>
              <a:pathLst>
                <a:path w="21031200" h="2651126">
                  <a:moveTo>
                    <a:pt x="0" y="0"/>
                  </a:moveTo>
                  <a:lnTo>
                    <a:pt x="21031200" y="0"/>
                  </a:lnTo>
                  <a:lnTo>
                    <a:pt x="21031200" y="2651126"/>
                  </a:lnTo>
                  <a:lnTo>
                    <a:pt x="0" y="2651126"/>
                  </a:lnTo>
                  <a:close/>
                </a:path>
              </a:pathLst>
            </a:custGeom>
            <a:solidFill>
              <a:srgbClr val="000000">
                <a:alpha val="0"/>
              </a:srgbClr>
            </a:solidFill>
          </p:spPr>
          <p:txBody>
            <a:bodyPr/>
            <a:lstStyle/>
            <a:p>
              <a:endParaRPr lang="en-IN"/>
            </a:p>
          </p:txBody>
        </p:sp>
        <p:sp>
          <p:nvSpPr>
            <p:cNvPr id="26" name="TextBox 4"/>
            <p:cNvSpPr txBox="1"/>
            <p:nvPr/>
          </p:nvSpPr>
          <p:spPr>
            <a:xfrm>
              <a:off x="71120" y="-225908"/>
              <a:ext cx="21031200" cy="2708277"/>
            </a:xfrm>
            <a:prstGeom prst="rect">
              <a:avLst/>
            </a:prstGeom>
          </p:spPr>
          <p:txBody>
            <a:bodyPr lIns="0" tIns="0" rIns="0" bIns="0" rtlCol="0" anchor="ctr"/>
            <a:lstStyle/>
            <a:p>
              <a:pPr algn="l">
                <a:lnSpc>
                  <a:spcPts val="7128"/>
                </a:lnSpc>
              </a:pPr>
              <a:r>
                <a:rPr lang="en-US" sz="6600" b="1" dirty="0" smtClean="0">
                  <a:solidFill>
                    <a:srgbClr val="000000"/>
                  </a:solidFill>
                  <a:latin typeface="Times New Roman" panose="02020603050405020304" pitchFamily="18" charset="0"/>
                  <a:ea typeface="Times New Roman Bold"/>
                  <a:cs typeface="Times New Roman Bold"/>
                  <a:sym typeface="Times New Roman Bold"/>
                </a:rPr>
                <a:t>Objectives</a:t>
              </a:r>
              <a:endParaRPr lang="en-US" sz="6600" b="1" dirty="0">
                <a:solidFill>
                  <a:srgbClr val="000000"/>
                </a:solidFill>
                <a:latin typeface="Times New Roman" panose="02020603050405020304" pitchFamily="18" charset="0"/>
                <a:ea typeface="Times New Roman Bold"/>
                <a:cs typeface="Times New Roman Bold"/>
                <a:sym typeface="Times New Roman Bold"/>
              </a:endParaRPr>
            </a:p>
          </p:txBody>
        </p:sp>
      </p:grpSp>
      <p:sp>
        <p:nvSpPr>
          <p:cNvPr id="39" name="Freeform 6"/>
          <p:cNvSpPr/>
          <p:nvPr/>
        </p:nvSpPr>
        <p:spPr>
          <a:xfrm>
            <a:off x="6057900" y="9534525"/>
            <a:ext cx="6172200" cy="547688"/>
          </a:xfrm>
          <a:custGeom>
            <a:avLst/>
            <a:gdLst/>
            <a:ahLst/>
            <a:cxnLst/>
            <a:rect l="l" t="t" r="r" b="b"/>
            <a:pathLst>
              <a:path w="8229600" h="730250">
                <a:moveTo>
                  <a:pt x="0" y="0"/>
                </a:moveTo>
                <a:lnTo>
                  <a:pt x="8229600" y="0"/>
                </a:lnTo>
                <a:lnTo>
                  <a:pt x="8229600" y="730250"/>
                </a:lnTo>
                <a:lnTo>
                  <a:pt x="0" y="730250"/>
                </a:lnTo>
                <a:close/>
              </a:path>
            </a:pathLst>
          </a:custGeom>
          <a:solidFill>
            <a:srgbClr val="000000">
              <a:alpha val="0"/>
            </a:srgbClr>
          </a:solidFill>
        </p:spPr>
        <p:txBody>
          <a:bodyPr/>
          <a:lstStyle/>
          <a:p>
            <a:endParaRPr lang="en-IN"/>
          </a:p>
        </p:txBody>
      </p:sp>
      <p:sp>
        <p:nvSpPr>
          <p:cNvPr id="40" name="TextBox 7"/>
          <p:cNvSpPr txBox="1"/>
          <p:nvPr/>
        </p:nvSpPr>
        <p:spPr>
          <a:xfrm>
            <a:off x="6324600" y="9615297"/>
            <a:ext cx="6057900" cy="576263"/>
          </a:xfrm>
          <a:prstGeom prst="rect">
            <a:avLst/>
          </a:prstGeom>
        </p:spPr>
        <p:txBody>
          <a:bodyPr lIns="0" tIns="0" rIns="0" bIns="0" rtlCol="0" anchor="ctr"/>
          <a:lstStyle/>
          <a:p>
            <a:pPr algn="ctr">
              <a:lnSpc>
                <a:spcPts val="2160"/>
              </a:lnSpc>
            </a:pPr>
            <a:r>
              <a:rPr lang="en-US" sz="1800" dirty="0">
                <a:solidFill>
                  <a:srgbClr val="767676"/>
                </a:solidFill>
                <a:latin typeface="Times New Roman"/>
                <a:ea typeface="Times New Roman"/>
                <a:cs typeface="Times New Roman"/>
                <a:sym typeface="Times New Roman"/>
              </a:rPr>
              <a:t>Department of Computer Engineering</a:t>
            </a:r>
          </a:p>
        </p:txBody>
      </p:sp>
      <p:sp>
        <p:nvSpPr>
          <p:cNvPr id="41" name="TextBox 40"/>
          <p:cNvSpPr txBox="1"/>
          <p:nvPr/>
        </p:nvSpPr>
        <p:spPr>
          <a:xfrm>
            <a:off x="1097280" y="2240280"/>
            <a:ext cx="10881360" cy="594360"/>
          </a:xfrm>
          <a:prstGeom prst="rect">
            <a:avLst/>
          </a:prstGeom>
          <a:noFill/>
        </p:spPr>
        <p:txBody>
          <a:bodyPr wrap="square" lIns="0" tIns="0" rIns="0" bIns="0">
            <a:spAutoFit/>
          </a:bodyPr>
          <a:lstStyle/>
          <a:p>
            <a:r>
              <a:rPr sz="3600" b="1">
                <a:solidFill>
                  <a:srgbClr val="000000"/>
                </a:solidFill>
                <a:latin typeface="Trebuchet MS"/>
              </a:rPr>
              <a:t>Eight Core Deliverables of FootballIQ</a:t>
            </a:r>
          </a:p>
        </p:txBody>
      </p:sp>
      <p:sp>
        <p:nvSpPr>
          <p:cNvPr id="42" name="Rounded Rectangle 41"/>
          <p:cNvSpPr/>
          <p:nvPr/>
        </p:nvSpPr>
        <p:spPr>
          <a:xfrm>
            <a:off x="1097280" y="2926080"/>
            <a:ext cx="3794760" cy="2971800"/>
          </a:xfrm>
          <a:prstGeom prst="roundRect">
            <a:avLst/>
          </a:prstGeom>
          <a:solidFill>
            <a:srgbClr val="123524"/>
          </a:solidFill>
          <a:ln w="19050">
            <a:solidFill>
              <a:srgbClr val="264D3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1371600" y="3154680"/>
            <a:ext cx="3246120" cy="2514600"/>
          </a:xfrm>
          <a:prstGeom prst="rect">
            <a:avLst/>
          </a:prstGeom>
          <a:noFill/>
        </p:spPr>
        <p:txBody>
          <a:bodyPr wrap="square" lIns="0" tIns="0" rIns="0" bIns="0">
            <a:spAutoFit/>
          </a:bodyPr>
          <a:lstStyle/>
          <a:p>
            <a:pPr>
              <a:spcAft>
                <a:spcPts val="600"/>
              </a:spcAft>
            </a:pPr>
            <a:r>
              <a:rPr sz="2200" b="1">
                <a:solidFill>
                  <a:srgbClr val="C9FF3F"/>
                </a:solidFill>
                <a:latin typeface="Consolas"/>
              </a:rPr>
              <a:t>01</a:t>
            </a:r>
          </a:p>
          <a:p>
            <a:pPr>
              <a:spcAft>
                <a:spcPts val="800"/>
              </a:spcAft>
            </a:pPr>
            <a:r>
              <a:rPr sz="2000" b="1">
                <a:solidFill>
                  <a:srgbClr val="F2F0E4"/>
                </a:solidFill>
                <a:latin typeface="Trebuchet MS"/>
              </a:rPr>
              <a:t>Browser Interface</a:t>
            </a:r>
          </a:p>
          <a:p>
            <a:r>
              <a:rPr sz="1500">
                <a:solidFill>
                  <a:srgbClr val="9FB8A8"/>
                </a:solidFill>
                <a:latin typeface="Calibri"/>
              </a:rPr>
              <a:t>Intuitive local web GUI for video upload, reference sample extraction, and landmark calibration.</a:t>
            </a:r>
          </a:p>
        </p:txBody>
      </p:sp>
      <p:sp>
        <p:nvSpPr>
          <p:cNvPr id="44" name="Rounded Rectangle 43"/>
          <p:cNvSpPr/>
          <p:nvPr/>
        </p:nvSpPr>
        <p:spPr>
          <a:xfrm>
            <a:off x="5212080" y="2926080"/>
            <a:ext cx="3794760" cy="2971800"/>
          </a:xfrm>
          <a:prstGeom prst="roundRect">
            <a:avLst/>
          </a:prstGeom>
          <a:solidFill>
            <a:srgbClr val="123524"/>
          </a:solidFill>
          <a:ln w="19050">
            <a:solidFill>
              <a:srgbClr val="264D3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5486400" y="3154680"/>
            <a:ext cx="3246120" cy="2514600"/>
          </a:xfrm>
          <a:prstGeom prst="rect">
            <a:avLst/>
          </a:prstGeom>
          <a:noFill/>
        </p:spPr>
        <p:txBody>
          <a:bodyPr wrap="square" lIns="0" tIns="0" rIns="0" bIns="0">
            <a:spAutoFit/>
          </a:bodyPr>
          <a:lstStyle/>
          <a:p>
            <a:pPr>
              <a:spcAft>
                <a:spcPts val="600"/>
              </a:spcAft>
            </a:pPr>
            <a:r>
              <a:rPr sz="2200" b="1">
                <a:solidFill>
                  <a:srgbClr val="C9FF3F"/>
                </a:solidFill>
                <a:latin typeface="Consolas"/>
              </a:rPr>
              <a:t>02</a:t>
            </a:r>
          </a:p>
          <a:p>
            <a:pPr>
              <a:spcAft>
                <a:spcPts val="800"/>
              </a:spcAft>
            </a:pPr>
            <a:r>
              <a:rPr sz="2000" b="1">
                <a:solidFill>
                  <a:srgbClr val="F2F0E4"/>
                </a:solidFill>
                <a:latin typeface="Trebuchet MS"/>
              </a:rPr>
              <a:t>Detection &amp; Tracking</a:t>
            </a:r>
          </a:p>
          <a:p>
            <a:r>
              <a:rPr sz="1500">
                <a:solidFill>
                  <a:srgbClr val="9FB8A8"/>
                </a:solidFill>
                <a:latin typeface="Calibri"/>
              </a:rPr>
              <a:t>Robust player detection combining YOLO with ByteTrack for persistent trajectories through scrums.</a:t>
            </a:r>
          </a:p>
        </p:txBody>
      </p:sp>
      <p:sp>
        <p:nvSpPr>
          <p:cNvPr id="46" name="Rounded Rectangle 45"/>
          <p:cNvSpPr/>
          <p:nvPr/>
        </p:nvSpPr>
        <p:spPr>
          <a:xfrm>
            <a:off x="9326880" y="2926080"/>
            <a:ext cx="3794760" cy="2971800"/>
          </a:xfrm>
          <a:prstGeom prst="roundRect">
            <a:avLst/>
          </a:prstGeom>
          <a:solidFill>
            <a:srgbClr val="123524"/>
          </a:solidFill>
          <a:ln w="19050">
            <a:solidFill>
              <a:srgbClr val="264D3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9601200" y="3154680"/>
            <a:ext cx="3246120" cy="2514600"/>
          </a:xfrm>
          <a:prstGeom prst="rect">
            <a:avLst/>
          </a:prstGeom>
          <a:noFill/>
        </p:spPr>
        <p:txBody>
          <a:bodyPr wrap="square" lIns="0" tIns="0" rIns="0" bIns="0">
            <a:spAutoFit/>
          </a:bodyPr>
          <a:lstStyle/>
          <a:p>
            <a:pPr>
              <a:spcAft>
                <a:spcPts val="600"/>
              </a:spcAft>
            </a:pPr>
            <a:r>
              <a:rPr sz="2200" b="1">
                <a:solidFill>
                  <a:srgbClr val="C9FF3F"/>
                </a:solidFill>
                <a:latin typeface="Consolas"/>
              </a:rPr>
              <a:t>03</a:t>
            </a:r>
          </a:p>
          <a:p>
            <a:pPr>
              <a:spcAft>
                <a:spcPts val="800"/>
              </a:spcAft>
            </a:pPr>
            <a:r>
              <a:rPr sz="2000" b="1">
                <a:solidFill>
                  <a:srgbClr val="F2F0E4"/>
                </a:solidFill>
                <a:latin typeface="Trebuchet MS"/>
              </a:rPr>
              <a:t>Team Classification</a:t>
            </a:r>
          </a:p>
          <a:p>
            <a:r>
              <a:rPr sz="1500">
                <a:solidFill>
                  <a:srgbClr val="9FB8A8"/>
                </a:solidFill>
                <a:latin typeface="Calibri"/>
              </a:rPr>
              <a:t>Confidence-weighted clustering (Team A / Team B / Unknown) from reference jersey crops.</a:t>
            </a:r>
          </a:p>
        </p:txBody>
      </p:sp>
      <p:sp>
        <p:nvSpPr>
          <p:cNvPr id="48" name="Rounded Rectangle 47"/>
          <p:cNvSpPr/>
          <p:nvPr/>
        </p:nvSpPr>
        <p:spPr>
          <a:xfrm>
            <a:off x="13441680" y="2926080"/>
            <a:ext cx="3794760" cy="2971800"/>
          </a:xfrm>
          <a:prstGeom prst="roundRect">
            <a:avLst/>
          </a:prstGeom>
          <a:solidFill>
            <a:srgbClr val="123524"/>
          </a:solidFill>
          <a:ln w="19050">
            <a:solidFill>
              <a:srgbClr val="264D3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13716000" y="3154680"/>
            <a:ext cx="3246120" cy="2514600"/>
          </a:xfrm>
          <a:prstGeom prst="rect">
            <a:avLst/>
          </a:prstGeom>
          <a:noFill/>
        </p:spPr>
        <p:txBody>
          <a:bodyPr wrap="square" lIns="0" tIns="0" rIns="0" bIns="0">
            <a:spAutoFit/>
          </a:bodyPr>
          <a:lstStyle/>
          <a:p>
            <a:pPr>
              <a:spcAft>
                <a:spcPts val="600"/>
              </a:spcAft>
            </a:pPr>
            <a:r>
              <a:rPr sz="2200" b="1">
                <a:solidFill>
                  <a:srgbClr val="C9FF3F"/>
                </a:solidFill>
                <a:latin typeface="Consolas"/>
              </a:rPr>
              <a:t>04</a:t>
            </a:r>
          </a:p>
          <a:p>
            <a:pPr>
              <a:spcAft>
                <a:spcPts val="800"/>
              </a:spcAft>
            </a:pPr>
            <a:r>
              <a:rPr sz="2000" b="1">
                <a:solidFill>
                  <a:srgbClr val="F2F0E4"/>
                </a:solidFill>
                <a:latin typeface="Trebuchet MS"/>
              </a:rPr>
              <a:t>Homography Mapping</a:t>
            </a:r>
          </a:p>
          <a:p>
            <a:r>
              <a:rPr sz="1500">
                <a:solidFill>
                  <a:srgbClr val="9FB8A8"/>
                </a:solidFill>
                <a:latin typeface="Calibri"/>
              </a:rPr>
              <a:t>Perspective projection onto a standard 105m × 68m pitch coordinate frame with camera compensation.</a:t>
            </a:r>
          </a:p>
        </p:txBody>
      </p:sp>
      <p:sp>
        <p:nvSpPr>
          <p:cNvPr id="50" name="Rounded Rectangle 49"/>
          <p:cNvSpPr/>
          <p:nvPr/>
        </p:nvSpPr>
        <p:spPr>
          <a:xfrm>
            <a:off x="1097280" y="6217920"/>
            <a:ext cx="3794760" cy="2971800"/>
          </a:xfrm>
          <a:prstGeom prst="roundRect">
            <a:avLst/>
          </a:prstGeom>
          <a:solidFill>
            <a:srgbClr val="123524"/>
          </a:solidFill>
          <a:ln w="19050">
            <a:solidFill>
              <a:srgbClr val="264D3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1371600" y="6446520"/>
            <a:ext cx="3246120" cy="2514600"/>
          </a:xfrm>
          <a:prstGeom prst="rect">
            <a:avLst/>
          </a:prstGeom>
          <a:noFill/>
        </p:spPr>
        <p:txBody>
          <a:bodyPr wrap="square" lIns="0" tIns="0" rIns="0" bIns="0">
            <a:spAutoFit/>
          </a:bodyPr>
          <a:lstStyle/>
          <a:p>
            <a:pPr>
              <a:spcAft>
                <a:spcPts val="600"/>
              </a:spcAft>
            </a:pPr>
            <a:r>
              <a:rPr sz="2200" b="1">
                <a:solidFill>
                  <a:srgbClr val="C9FF3F"/>
                </a:solidFill>
                <a:latin typeface="Consolas"/>
              </a:rPr>
              <a:t>05</a:t>
            </a:r>
          </a:p>
          <a:p>
            <a:pPr>
              <a:spcAft>
                <a:spcPts val="800"/>
              </a:spcAft>
            </a:pPr>
            <a:r>
              <a:rPr sz="2000" b="1">
                <a:solidFill>
                  <a:srgbClr val="F2F0E4"/>
                </a:solidFill>
                <a:latin typeface="Trebuchet MS"/>
              </a:rPr>
              <a:t>Multi-view Video Render</a:t>
            </a:r>
          </a:p>
          <a:p>
            <a:r>
              <a:rPr sz="1500">
                <a:solidFill>
                  <a:srgbClr val="9FB8A8"/>
                </a:solidFill>
                <a:latin typeface="Calibri"/>
              </a:rPr>
              <a:t>Generate synchronized tactical overlays, 2D radar view, and side-by-side MP4 exports.</a:t>
            </a:r>
          </a:p>
        </p:txBody>
      </p:sp>
      <p:sp>
        <p:nvSpPr>
          <p:cNvPr id="52" name="Rounded Rectangle 51"/>
          <p:cNvSpPr/>
          <p:nvPr/>
        </p:nvSpPr>
        <p:spPr>
          <a:xfrm>
            <a:off x="5212080" y="6217920"/>
            <a:ext cx="3794760" cy="2971800"/>
          </a:xfrm>
          <a:prstGeom prst="roundRect">
            <a:avLst/>
          </a:prstGeom>
          <a:solidFill>
            <a:srgbClr val="123524"/>
          </a:solidFill>
          <a:ln w="19050">
            <a:solidFill>
              <a:srgbClr val="264D3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5486400" y="6446520"/>
            <a:ext cx="3246120" cy="2514600"/>
          </a:xfrm>
          <a:prstGeom prst="rect">
            <a:avLst/>
          </a:prstGeom>
          <a:noFill/>
        </p:spPr>
        <p:txBody>
          <a:bodyPr wrap="square" lIns="0" tIns="0" rIns="0" bIns="0">
            <a:spAutoFit/>
          </a:bodyPr>
          <a:lstStyle/>
          <a:p>
            <a:pPr>
              <a:spcAft>
                <a:spcPts val="600"/>
              </a:spcAft>
            </a:pPr>
            <a:r>
              <a:rPr sz="2200" b="1">
                <a:solidFill>
                  <a:srgbClr val="C9FF3F"/>
                </a:solidFill>
                <a:latin typeface="Consolas"/>
              </a:rPr>
              <a:t>06</a:t>
            </a:r>
          </a:p>
          <a:p>
            <a:pPr>
              <a:spcAft>
                <a:spcPts val="800"/>
              </a:spcAft>
            </a:pPr>
            <a:r>
              <a:rPr sz="2000" b="1">
                <a:solidFill>
                  <a:srgbClr val="F2F0E4"/>
                </a:solidFill>
                <a:latin typeface="Trebuchet MS"/>
              </a:rPr>
              <a:t>Physical &amp; Tactical Analytics</a:t>
            </a:r>
          </a:p>
          <a:p>
            <a:r>
              <a:rPr sz="1500">
                <a:solidFill>
                  <a:srgbClr val="9FB8A8"/>
                </a:solidFill>
                <a:latin typeface="Calibri"/>
              </a:rPr>
              <a:t>Compute real-world metric distance, velocity, spatial heatmaps, and convex-hull team centroids.</a:t>
            </a:r>
          </a:p>
        </p:txBody>
      </p:sp>
      <p:sp>
        <p:nvSpPr>
          <p:cNvPr id="54" name="Rounded Rectangle 53"/>
          <p:cNvSpPr/>
          <p:nvPr/>
        </p:nvSpPr>
        <p:spPr>
          <a:xfrm>
            <a:off x="9326880" y="6217920"/>
            <a:ext cx="3794760" cy="2971800"/>
          </a:xfrm>
          <a:prstGeom prst="roundRect">
            <a:avLst/>
          </a:prstGeom>
          <a:solidFill>
            <a:srgbClr val="123524"/>
          </a:solidFill>
          <a:ln w="19050">
            <a:solidFill>
              <a:srgbClr val="264D3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9601200" y="6446520"/>
            <a:ext cx="3246120" cy="2514600"/>
          </a:xfrm>
          <a:prstGeom prst="rect">
            <a:avLst/>
          </a:prstGeom>
          <a:noFill/>
        </p:spPr>
        <p:txBody>
          <a:bodyPr wrap="square" lIns="0" tIns="0" rIns="0" bIns="0">
            <a:spAutoFit/>
          </a:bodyPr>
          <a:lstStyle/>
          <a:p>
            <a:pPr>
              <a:spcAft>
                <a:spcPts val="600"/>
              </a:spcAft>
            </a:pPr>
            <a:r>
              <a:rPr sz="2200" b="1">
                <a:solidFill>
                  <a:srgbClr val="C9FF3F"/>
                </a:solidFill>
                <a:latin typeface="Consolas"/>
              </a:rPr>
              <a:t>07</a:t>
            </a:r>
          </a:p>
          <a:p>
            <a:pPr>
              <a:spcAft>
                <a:spcPts val="800"/>
              </a:spcAft>
            </a:pPr>
            <a:r>
              <a:rPr sz="2000" b="1">
                <a:solidFill>
                  <a:srgbClr val="F2F0E4"/>
                </a:solidFill>
                <a:latin typeface="Trebuchet MS"/>
              </a:rPr>
              <a:t>Ball &amp; Possession Engine</a:t>
            </a:r>
          </a:p>
          <a:p>
            <a:r>
              <a:rPr sz="1500">
                <a:solidFill>
                  <a:srgbClr val="9FB8A8"/>
                </a:solidFill>
                <a:latin typeface="Calibri"/>
              </a:rPr>
              <a:t>Multi-criteria candidate verification and proximity-based team possession share (experimental).</a:t>
            </a:r>
          </a:p>
        </p:txBody>
      </p:sp>
      <p:sp>
        <p:nvSpPr>
          <p:cNvPr id="56" name="Rounded Rectangle 55"/>
          <p:cNvSpPr/>
          <p:nvPr/>
        </p:nvSpPr>
        <p:spPr>
          <a:xfrm>
            <a:off x="13441680" y="6217920"/>
            <a:ext cx="3794760" cy="2971800"/>
          </a:xfrm>
          <a:prstGeom prst="roundRect">
            <a:avLst/>
          </a:prstGeom>
          <a:solidFill>
            <a:srgbClr val="123524"/>
          </a:solidFill>
          <a:ln w="19050">
            <a:solidFill>
              <a:srgbClr val="264D3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13716000" y="6446520"/>
            <a:ext cx="3246120" cy="2514600"/>
          </a:xfrm>
          <a:prstGeom prst="rect">
            <a:avLst/>
          </a:prstGeom>
          <a:noFill/>
        </p:spPr>
        <p:txBody>
          <a:bodyPr wrap="square" lIns="0" tIns="0" rIns="0" bIns="0">
            <a:spAutoFit/>
          </a:bodyPr>
          <a:lstStyle/>
          <a:p>
            <a:pPr>
              <a:spcAft>
                <a:spcPts val="600"/>
              </a:spcAft>
            </a:pPr>
            <a:r>
              <a:rPr sz="2200" b="1">
                <a:solidFill>
                  <a:srgbClr val="C9FF3F"/>
                </a:solidFill>
                <a:latin typeface="Consolas"/>
              </a:rPr>
              <a:t>08</a:t>
            </a:r>
          </a:p>
          <a:p>
            <a:pPr>
              <a:spcAft>
                <a:spcPts val="800"/>
              </a:spcAft>
            </a:pPr>
            <a:r>
              <a:rPr sz="2000" b="1">
                <a:solidFill>
                  <a:srgbClr val="F2F0E4"/>
                </a:solidFill>
                <a:latin typeface="Trebuchet MS"/>
              </a:rPr>
              <a:t>Modular Flask Backend</a:t>
            </a:r>
          </a:p>
          <a:p>
            <a:r>
              <a:rPr sz="1500">
                <a:solidFill>
                  <a:srgbClr val="9FB8A8"/>
                </a:solidFill>
                <a:latin typeface="Calibri"/>
              </a:rPr>
              <a:t>Clean Python pipeline sharing unified modules seamlessly between web UI and command-line scripts.</a:t>
            </a:r>
          </a:p>
        </p:txBody>
      </p:sp>
      <p:pic>
        <p:nvPicPr>
          <p:cNvPr id="27" name="Picture 26">
            <a:extLst>
              <a:ext uri="{FF2B5EF4-FFF2-40B4-BE49-F238E27FC236}">
                <a16:creationId xmlns:a16="http://schemas.microsoft.com/office/drawing/2014/main" id="{1F0D420E-600A-B345-3A16-1C23AD860F18}"/>
              </a:ext>
            </a:extLst>
          </p:cNvPr>
          <p:cNvPicPr>
            <a:picLocks noChangeAspect="1"/>
          </p:cNvPicPr>
          <p:nvPr/>
        </p:nvPicPr>
        <p:blipFill>
          <a:blip r:embed="rId2"/>
          <a:stretch>
            <a:fillRect/>
          </a:stretch>
        </p:blipFill>
        <p:spPr>
          <a:xfrm>
            <a:off x="14809483" y="0"/>
            <a:ext cx="3496805" cy="1605366"/>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4" name="Group 2"/>
          <p:cNvGrpSpPr/>
          <p:nvPr/>
        </p:nvGrpSpPr>
        <p:grpSpPr>
          <a:xfrm>
            <a:off x="990600" y="547044"/>
            <a:ext cx="15826740" cy="1574722"/>
            <a:chOff x="0" y="-225908"/>
            <a:chExt cx="21102320" cy="2877034"/>
          </a:xfrm>
        </p:grpSpPr>
        <p:sp>
          <p:nvSpPr>
            <p:cNvPr id="25" name="Freeform 3"/>
            <p:cNvSpPr/>
            <p:nvPr/>
          </p:nvSpPr>
          <p:spPr>
            <a:xfrm>
              <a:off x="0" y="0"/>
              <a:ext cx="21031200" cy="2651126"/>
            </a:xfrm>
            <a:custGeom>
              <a:avLst/>
              <a:gdLst/>
              <a:ahLst/>
              <a:cxnLst/>
              <a:rect l="l" t="t" r="r" b="b"/>
              <a:pathLst>
                <a:path w="21031200" h="2651126">
                  <a:moveTo>
                    <a:pt x="0" y="0"/>
                  </a:moveTo>
                  <a:lnTo>
                    <a:pt x="21031200" y="0"/>
                  </a:lnTo>
                  <a:lnTo>
                    <a:pt x="21031200" y="2651126"/>
                  </a:lnTo>
                  <a:lnTo>
                    <a:pt x="0" y="2651126"/>
                  </a:lnTo>
                  <a:close/>
                </a:path>
              </a:pathLst>
            </a:custGeom>
            <a:solidFill>
              <a:srgbClr val="000000">
                <a:alpha val="0"/>
              </a:srgbClr>
            </a:solidFill>
          </p:spPr>
          <p:txBody>
            <a:bodyPr/>
            <a:lstStyle/>
            <a:p>
              <a:endParaRPr lang="en-IN"/>
            </a:p>
          </p:txBody>
        </p:sp>
        <p:sp>
          <p:nvSpPr>
            <p:cNvPr id="26" name="TextBox 4"/>
            <p:cNvSpPr txBox="1"/>
            <p:nvPr/>
          </p:nvSpPr>
          <p:spPr>
            <a:xfrm>
              <a:off x="71120" y="-225908"/>
              <a:ext cx="21031200" cy="2708277"/>
            </a:xfrm>
            <a:prstGeom prst="rect">
              <a:avLst/>
            </a:prstGeom>
          </p:spPr>
          <p:txBody>
            <a:bodyPr lIns="0" tIns="0" rIns="0" bIns="0" rtlCol="0" anchor="ctr"/>
            <a:lstStyle/>
            <a:p>
              <a:pPr algn="l">
                <a:lnSpc>
                  <a:spcPts val="7128"/>
                </a:lnSpc>
              </a:pPr>
              <a:r>
                <a:rPr lang="en-US" sz="6600" b="1" dirty="0" smtClean="0">
                  <a:solidFill>
                    <a:srgbClr val="000000"/>
                  </a:solidFill>
                  <a:latin typeface="Times New Roman" panose="02020603050405020304" pitchFamily="18" charset="0"/>
                  <a:ea typeface="Times New Roman Bold"/>
                  <a:cs typeface="Times New Roman Bold"/>
                  <a:sym typeface="Times New Roman Bold"/>
                </a:rPr>
                <a:t>Literature Review</a:t>
              </a:r>
              <a:endParaRPr lang="en-US" sz="6600" b="1" dirty="0">
                <a:solidFill>
                  <a:srgbClr val="000000"/>
                </a:solidFill>
                <a:latin typeface="Times New Roman" panose="02020603050405020304" pitchFamily="18" charset="0"/>
                <a:ea typeface="Times New Roman Bold"/>
                <a:cs typeface="Times New Roman Bold"/>
                <a:sym typeface="Times New Roman Bold"/>
              </a:endParaRPr>
            </a:p>
          </p:txBody>
        </p:sp>
      </p:grpSp>
      <p:sp>
        <p:nvSpPr>
          <p:cNvPr id="39" name="Freeform 6"/>
          <p:cNvSpPr/>
          <p:nvPr/>
        </p:nvSpPr>
        <p:spPr>
          <a:xfrm>
            <a:off x="6057900" y="9534525"/>
            <a:ext cx="6172200" cy="547688"/>
          </a:xfrm>
          <a:custGeom>
            <a:avLst/>
            <a:gdLst/>
            <a:ahLst/>
            <a:cxnLst/>
            <a:rect l="l" t="t" r="r" b="b"/>
            <a:pathLst>
              <a:path w="8229600" h="730250">
                <a:moveTo>
                  <a:pt x="0" y="0"/>
                </a:moveTo>
                <a:lnTo>
                  <a:pt x="8229600" y="0"/>
                </a:lnTo>
                <a:lnTo>
                  <a:pt x="8229600" y="730250"/>
                </a:lnTo>
                <a:lnTo>
                  <a:pt x="0" y="730250"/>
                </a:lnTo>
                <a:close/>
              </a:path>
            </a:pathLst>
          </a:custGeom>
          <a:solidFill>
            <a:srgbClr val="000000">
              <a:alpha val="0"/>
            </a:srgbClr>
          </a:solidFill>
        </p:spPr>
        <p:txBody>
          <a:bodyPr/>
          <a:lstStyle/>
          <a:p>
            <a:endParaRPr lang="en-IN"/>
          </a:p>
        </p:txBody>
      </p:sp>
      <p:sp>
        <p:nvSpPr>
          <p:cNvPr id="40" name="TextBox 7"/>
          <p:cNvSpPr txBox="1"/>
          <p:nvPr/>
        </p:nvSpPr>
        <p:spPr>
          <a:xfrm>
            <a:off x="6324600" y="9615297"/>
            <a:ext cx="6057900" cy="576263"/>
          </a:xfrm>
          <a:prstGeom prst="rect">
            <a:avLst/>
          </a:prstGeom>
        </p:spPr>
        <p:txBody>
          <a:bodyPr lIns="0" tIns="0" rIns="0" bIns="0" rtlCol="0" anchor="ctr"/>
          <a:lstStyle/>
          <a:p>
            <a:pPr algn="ctr">
              <a:lnSpc>
                <a:spcPts val="2160"/>
              </a:lnSpc>
            </a:pPr>
            <a:r>
              <a:rPr lang="en-US" sz="1800" dirty="0">
                <a:solidFill>
                  <a:srgbClr val="767676"/>
                </a:solidFill>
                <a:latin typeface="Times New Roman"/>
                <a:ea typeface="Times New Roman"/>
                <a:cs typeface="Times New Roman"/>
                <a:sym typeface="Times New Roman"/>
              </a:rPr>
              <a:t>Department of Computer Engineering</a:t>
            </a:r>
          </a:p>
        </p:txBody>
      </p:sp>
      <p:graphicFrame>
        <p:nvGraphicFramePr>
          <p:cNvPr id="41" name="Table 40"/>
          <p:cNvGraphicFramePr>
            <a:graphicFrameLocks noGrp="1"/>
          </p:cNvGraphicFramePr>
          <p:nvPr/>
        </p:nvGraphicFramePr>
        <p:xfrm>
          <a:off x="1097280" y="2011680"/>
          <a:ext cx="16093440" cy="6858000"/>
        </p:xfrm>
        <a:graphic>
          <a:graphicData uri="http://schemas.openxmlformats.org/drawingml/2006/table">
            <a:tbl>
              <a:tblPr firstRow="1" bandRow="1">
                <a:tableStyleId>{5C22544A-7EE6-4342-B048-85BDC9FD1C3A}</a:tableStyleId>
              </a:tblPr>
              <a:tblGrid>
                <a:gridCol w="822960">
                  <a:extLst>
                    <a:ext uri="{9D8B030D-6E8A-4147-A177-3AD203B41FA5}">
                      <a16:colId xmlns:a16="http://schemas.microsoft.com/office/drawing/2014/main" val="20000"/>
                    </a:ext>
                  </a:extLst>
                </a:gridCol>
                <a:gridCol w="3657600">
                  <a:extLst>
                    <a:ext uri="{9D8B030D-6E8A-4147-A177-3AD203B41FA5}">
                      <a16:colId xmlns:a16="http://schemas.microsoft.com/office/drawing/2014/main" val="20001"/>
                    </a:ext>
                  </a:extLst>
                </a:gridCol>
                <a:gridCol w="2103120">
                  <a:extLst>
                    <a:ext uri="{9D8B030D-6E8A-4147-A177-3AD203B41FA5}">
                      <a16:colId xmlns:a16="http://schemas.microsoft.com/office/drawing/2014/main" val="20002"/>
                    </a:ext>
                  </a:extLst>
                </a:gridCol>
                <a:gridCol w="2560320">
                  <a:extLst>
                    <a:ext uri="{9D8B030D-6E8A-4147-A177-3AD203B41FA5}">
                      <a16:colId xmlns:a16="http://schemas.microsoft.com/office/drawing/2014/main" val="20003"/>
                    </a:ext>
                  </a:extLst>
                </a:gridCol>
                <a:gridCol w="3474720">
                  <a:extLst>
                    <a:ext uri="{9D8B030D-6E8A-4147-A177-3AD203B41FA5}">
                      <a16:colId xmlns:a16="http://schemas.microsoft.com/office/drawing/2014/main" val="20004"/>
                    </a:ext>
                  </a:extLst>
                </a:gridCol>
                <a:gridCol w="3474720">
                  <a:extLst>
                    <a:ext uri="{9D8B030D-6E8A-4147-A177-3AD203B41FA5}">
                      <a16:colId xmlns:a16="http://schemas.microsoft.com/office/drawing/2014/main" val="20005"/>
                    </a:ext>
                  </a:extLst>
                </a:gridCol>
              </a:tblGrid>
              <a:tr h="857250">
                <a:tc>
                  <a:txBody>
                    <a:bodyPr/>
                    <a:lstStyle/>
                    <a:p>
                      <a:r>
                        <a:rPr sz="1700" b="1">
                          <a:solidFill>
                            <a:srgbClr val="C9FF3F"/>
                          </a:solidFill>
                          <a:latin typeface="Times New Roman"/>
                        </a:rPr>
                        <a:t>S.No</a:t>
                      </a:r>
                    </a:p>
                  </a:txBody>
                  <a:tcP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123524"/>
                    </a:solidFill>
                  </a:tcPr>
                </a:tc>
                <a:tc>
                  <a:txBody>
                    <a:bodyPr/>
                    <a:lstStyle/>
                    <a:p>
                      <a:r>
                        <a:rPr sz="1700" b="1">
                          <a:solidFill>
                            <a:srgbClr val="C9FF3F"/>
                          </a:solidFill>
                          <a:latin typeface="Times New Roman"/>
                        </a:rPr>
                        <a:t>Title and Year</a:t>
                      </a:r>
                    </a:p>
                  </a:txBody>
                  <a:tcP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123524"/>
                    </a:solidFill>
                  </a:tcPr>
                </a:tc>
                <a:tc>
                  <a:txBody>
                    <a:bodyPr/>
                    <a:lstStyle/>
                    <a:p>
                      <a:r>
                        <a:rPr sz="1700" b="1">
                          <a:solidFill>
                            <a:srgbClr val="C9FF3F"/>
                          </a:solidFill>
                          <a:latin typeface="Times New Roman"/>
                        </a:rPr>
                        <a:t>Author</a:t>
                      </a:r>
                    </a:p>
                  </a:txBody>
                  <a:tcP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123524"/>
                    </a:solidFill>
                  </a:tcPr>
                </a:tc>
                <a:tc>
                  <a:txBody>
                    <a:bodyPr/>
                    <a:lstStyle/>
                    <a:p>
                      <a:r>
                        <a:rPr sz="1700" b="1">
                          <a:solidFill>
                            <a:srgbClr val="C9FF3F"/>
                          </a:solidFill>
                          <a:latin typeface="Times New Roman"/>
                        </a:rPr>
                        <a:t>Objective</a:t>
                      </a:r>
                    </a:p>
                  </a:txBody>
                  <a:tcP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123524"/>
                    </a:solidFill>
                  </a:tcPr>
                </a:tc>
                <a:tc>
                  <a:txBody>
                    <a:bodyPr/>
                    <a:lstStyle/>
                    <a:p>
                      <a:r>
                        <a:rPr sz="1700" b="1">
                          <a:solidFill>
                            <a:srgbClr val="C9FF3F"/>
                          </a:solidFill>
                          <a:latin typeface="Times New Roman"/>
                        </a:rPr>
                        <a:t>Technology and Working</a:t>
                      </a:r>
                    </a:p>
                  </a:txBody>
                  <a:tcP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123524"/>
                    </a:solidFill>
                  </a:tcPr>
                </a:tc>
                <a:tc>
                  <a:txBody>
                    <a:bodyPr/>
                    <a:lstStyle/>
                    <a:p>
                      <a:r>
                        <a:rPr sz="1700" b="1">
                          <a:solidFill>
                            <a:srgbClr val="C9FF3F"/>
                          </a:solidFill>
                          <a:latin typeface="Times New Roman"/>
                        </a:rPr>
                        <a:t>Findings</a:t>
                      </a:r>
                    </a:p>
                  </a:txBody>
                  <a:tcP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123524"/>
                    </a:solidFill>
                  </a:tcPr>
                </a:tc>
                <a:extLst>
                  <a:ext uri="{0D108BD9-81ED-4DB2-BD59-A6C34878D82A}">
                    <a16:rowId xmlns:a16="http://schemas.microsoft.com/office/drawing/2014/main" val="10000"/>
                  </a:ext>
                </a:extLst>
              </a:tr>
              <a:tr h="857250">
                <a:tc>
                  <a:txBody>
                    <a:bodyPr/>
                    <a:lstStyle/>
                    <a:p>
                      <a:r>
                        <a:rPr sz="1500" b="0">
                          <a:solidFill>
                            <a:srgbClr val="000000"/>
                          </a:solidFill>
                          <a:latin typeface="Times New Roman"/>
                        </a:rPr>
                        <a:t>1</a:t>
                      </a:r>
                    </a:p>
                  </a:txBody>
                  <a:tcP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noFill/>
                  </a:tcPr>
                </a:tc>
                <a:tc>
                  <a:txBody>
                    <a:bodyPr/>
                    <a:lstStyle/>
                    <a:p>
                      <a:r>
                        <a:rPr sz="1500" b="0">
                          <a:solidFill>
                            <a:srgbClr val="000000"/>
                          </a:solidFill>
                          <a:latin typeface="Times New Roman"/>
                        </a:rPr>
                        <a:t>YOLO: Unified, Real-Time Object Detection (2016)</a:t>
                      </a:r>
                    </a:p>
                  </a:txBody>
                  <a:tcP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noFill/>
                  </a:tcPr>
                </a:tc>
                <a:tc>
                  <a:txBody>
                    <a:bodyPr/>
                    <a:lstStyle/>
                    <a:p>
                      <a:r>
                        <a:rPr sz="1500" b="0">
                          <a:solidFill>
                            <a:srgbClr val="000000"/>
                          </a:solidFill>
                          <a:latin typeface="Times New Roman"/>
                        </a:rPr>
                        <a:t>Redmon et al.</a:t>
                      </a:r>
                    </a:p>
                  </a:txBody>
                  <a:tcP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noFill/>
                  </a:tcPr>
                </a:tc>
                <a:tc>
                  <a:txBody>
                    <a:bodyPr/>
                    <a:lstStyle/>
                    <a:p>
                      <a:r>
                        <a:rPr sz="1500" b="0">
                          <a:solidFill>
                            <a:srgbClr val="000000"/>
                          </a:solidFill>
                          <a:latin typeface="Times New Roman"/>
                        </a:rPr>
                        <a:t>Fast object detection</a:t>
                      </a:r>
                    </a:p>
                  </a:txBody>
                  <a:tcP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noFill/>
                  </a:tcPr>
                </a:tc>
                <a:tc>
                  <a:txBody>
                    <a:bodyPr/>
                    <a:lstStyle/>
                    <a:p>
                      <a:r>
                        <a:rPr sz="1500" b="0">
                          <a:solidFill>
                            <a:srgbClr val="000000"/>
                          </a:solidFill>
                          <a:latin typeface="Times New Roman"/>
                        </a:rPr>
                        <a:t>Single-pass regression of boxes and classes</a:t>
                      </a:r>
                    </a:p>
                  </a:txBody>
                  <a:tcP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noFill/>
                  </a:tcPr>
                </a:tc>
                <a:tc>
                  <a:txBody>
                    <a:bodyPr/>
                    <a:lstStyle/>
                    <a:p>
                      <a:r>
                        <a:rPr sz="1500" b="0">
                          <a:solidFill>
                            <a:srgbClr val="000000"/>
                          </a:solidFill>
                          <a:latin typeface="Times New Roman"/>
                        </a:rPr>
                        <a:t>Fast enough for video; small objects such as the ball remain hard.</a:t>
                      </a:r>
                    </a:p>
                  </a:txBody>
                  <a:tcP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noFill/>
                  </a:tcPr>
                </a:tc>
                <a:extLst>
                  <a:ext uri="{0D108BD9-81ED-4DB2-BD59-A6C34878D82A}">
                    <a16:rowId xmlns:a16="http://schemas.microsoft.com/office/drawing/2014/main" val="10001"/>
                  </a:ext>
                </a:extLst>
              </a:tr>
              <a:tr h="857250">
                <a:tc>
                  <a:txBody>
                    <a:bodyPr/>
                    <a:lstStyle/>
                    <a:p>
                      <a:r>
                        <a:rPr sz="1500" b="0">
                          <a:solidFill>
                            <a:srgbClr val="000000"/>
                          </a:solidFill>
                          <a:latin typeface="Times New Roman"/>
                        </a:rPr>
                        <a:t>2</a:t>
                      </a:r>
                    </a:p>
                  </a:txBody>
                  <a:tcP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noFill/>
                  </a:tcPr>
                </a:tc>
                <a:tc>
                  <a:txBody>
                    <a:bodyPr/>
                    <a:lstStyle/>
                    <a:p>
                      <a:r>
                        <a:rPr sz="1500" b="0">
                          <a:solidFill>
                            <a:srgbClr val="000000"/>
                          </a:solidFill>
                          <a:latin typeface="Times New Roman"/>
                        </a:rPr>
                        <a:t>SORT (2016)</a:t>
                      </a:r>
                    </a:p>
                  </a:txBody>
                  <a:tcP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noFill/>
                  </a:tcPr>
                </a:tc>
                <a:tc>
                  <a:txBody>
                    <a:bodyPr/>
                    <a:lstStyle/>
                    <a:p>
                      <a:r>
                        <a:rPr sz="1500" b="0">
                          <a:solidFill>
                            <a:srgbClr val="000000"/>
                          </a:solidFill>
                          <a:latin typeface="Times New Roman"/>
                        </a:rPr>
                        <a:t>Bewley et al.</a:t>
                      </a:r>
                    </a:p>
                  </a:txBody>
                  <a:tcP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noFill/>
                  </a:tcPr>
                </a:tc>
                <a:tc>
                  <a:txBody>
                    <a:bodyPr/>
                    <a:lstStyle/>
                    <a:p>
                      <a:r>
                        <a:rPr sz="1500" b="0">
                          <a:solidFill>
                            <a:srgbClr val="000000"/>
                          </a:solidFill>
                          <a:latin typeface="Times New Roman"/>
                        </a:rPr>
                        <a:t>Real-time tracking</a:t>
                      </a:r>
                    </a:p>
                  </a:txBody>
                  <a:tcP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noFill/>
                  </a:tcPr>
                </a:tc>
                <a:tc>
                  <a:txBody>
                    <a:bodyPr/>
                    <a:lstStyle/>
                    <a:p>
                      <a:r>
                        <a:rPr sz="1500" b="0">
                          <a:solidFill>
                            <a:srgbClr val="000000"/>
                          </a:solidFill>
                          <a:latin typeface="Times New Roman"/>
                        </a:rPr>
                        <a:t>Kalman filter + Hungarian matching algorithm</a:t>
                      </a:r>
                    </a:p>
                  </a:txBody>
                  <a:tcP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noFill/>
                  </a:tcPr>
                </a:tc>
                <a:tc>
                  <a:txBody>
                    <a:bodyPr/>
                    <a:lstStyle/>
                    <a:p>
                      <a:r>
                        <a:rPr sz="1500" b="0">
                          <a:solidFill>
                            <a:srgbClr val="000000"/>
                          </a:solidFill>
                          <a:latin typeface="Times New Roman"/>
                        </a:rPr>
                        <a:t>Fast, but frequent ID switches occur during player overlaps.</a:t>
                      </a:r>
                    </a:p>
                  </a:txBody>
                  <a:tcP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noFill/>
                  </a:tcPr>
                </a:tc>
                <a:extLst>
                  <a:ext uri="{0D108BD9-81ED-4DB2-BD59-A6C34878D82A}">
                    <a16:rowId xmlns:a16="http://schemas.microsoft.com/office/drawing/2014/main" val="10002"/>
                  </a:ext>
                </a:extLst>
              </a:tr>
              <a:tr h="857250">
                <a:tc>
                  <a:txBody>
                    <a:bodyPr/>
                    <a:lstStyle/>
                    <a:p>
                      <a:r>
                        <a:rPr sz="1500" b="0">
                          <a:solidFill>
                            <a:srgbClr val="000000"/>
                          </a:solidFill>
                          <a:latin typeface="Times New Roman"/>
                        </a:rPr>
                        <a:t>3</a:t>
                      </a:r>
                    </a:p>
                  </a:txBody>
                  <a:tcP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noFill/>
                  </a:tcPr>
                </a:tc>
                <a:tc>
                  <a:txBody>
                    <a:bodyPr/>
                    <a:lstStyle/>
                    <a:p>
                      <a:r>
                        <a:rPr sz="1500" b="0">
                          <a:solidFill>
                            <a:srgbClr val="000000"/>
                          </a:solidFill>
                          <a:latin typeface="Times New Roman"/>
                        </a:rPr>
                        <a:t>DeepSORT (2017)</a:t>
                      </a:r>
                    </a:p>
                  </a:txBody>
                  <a:tcP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noFill/>
                  </a:tcPr>
                </a:tc>
                <a:tc>
                  <a:txBody>
                    <a:bodyPr/>
                    <a:lstStyle/>
                    <a:p>
                      <a:r>
                        <a:rPr sz="1500" b="0">
                          <a:solidFill>
                            <a:srgbClr val="000000"/>
                          </a:solidFill>
                          <a:latin typeface="Times New Roman"/>
                        </a:rPr>
                        <a:t>Wojke et al.</a:t>
                      </a:r>
                    </a:p>
                  </a:txBody>
                  <a:tcP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noFill/>
                  </a:tcPr>
                </a:tc>
                <a:tc>
                  <a:txBody>
                    <a:bodyPr/>
                    <a:lstStyle/>
                    <a:p>
                      <a:r>
                        <a:rPr sz="1500" b="0">
                          <a:solidFill>
                            <a:srgbClr val="000000"/>
                          </a:solidFill>
                          <a:latin typeface="Times New Roman"/>
                        </a:rPr>
                        <a:t>Fewer ID switches</a:t>
                      </a:r>
                    </a:p>
                  </a:txBody>
                  <a:tcP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noFill/>
                  </a:tcPr>
                </a:tc>
                <a:tc>
                  <a:txBody>
                    <a:bodyPr/>
                    <a:lstStyle/>
                    <a:p>
                      <a:r>
                        <a:rPr sz="1500" b="0">
                          <a:solidFill>
                            <a:srgbClr val="000000"/>
                          </a:solidFill>
                          <a:latin typeface="Times New Roman"/>
                        </a:rPr>
                        <a:t>SORT + deep appearance feature descriptor</a:t>
                      </a:r>
                    </a:p>
                  </a:txBody>
                  <a:tcP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noFill/>
                  </a:tcPr>
                </a:tc>
                <a:tc>
                  <a:txBody>
                    <a:bodyPr/>
                    <a:lstStyle/>
                    <a:p>
                      <a:r>
                        <a:rPr sz="1500" b="0">
                          <a:solidFill>
                            <a:srgbClr val="000000"/>
                          </a:solidFill>
                          <a:latin typeface="Times New Roman"/>
                        </a:rPr>
                        <a:t>Better across occlusions, but prohibitive Re-ID network overhead.</a:t>
                      </a:r>
                    </a:p>
                  </a:txBody>
                  <a:tcP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noFill/>
                  </a:tcPr>
                </a:tc>
                <a:extLst>
                  <a:ext uri="{0D108BD9-81ED-4DB2-BD59-A6C34878D82A}">
                    <a16:rowId xmlns:a16="http://schemas.microsoft.com/office/drawing/2014/main" val="10003"/>
                  </a:ext>
                </a:extLst>
              </a:tr>
              <a:tr h="857250">
                <a:tc>
                  <a:txBody>
                    <a:bodyPr/>
                    <a:lstStyle/>
                    <a:p>
                      <a:r>
                        <a:rPr sz="1500" b="1">
                          <a:solidFill>
                            <a:srgbClr val="000000"/>
                          </a:solidFill>
                          <a:latin typeface="Times New Roman"/>
                        </a:rPr>
                        <a:t>4</a:t>
                      </a:r>
                    </a:p>
                  </a:txBody>
                  <a:tcP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EBF8DC"/>
                    </a:solidFill>
                  </a:tcPr>
                </a:tc>
                <a:tc>
                  <a:txBody>
                    <a:bodyPr/>
                    <a:lstStyle/>
                    <a:p>
                      <a:r>
                        <a:rPr sz="1500" b="1">
                          <a:solidFill>
                            <a:srgbClr val="000000"/>
                          </a:solidFill>
                          <a:latin typeface="Times New Roman"/>
                        </a:rPr>
                        <a:t>ByteTrack (2022)</a:t>
                      </a:r>
                    </a:p>
                  </a:txBody>
                  <a:tcP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EBF8DC"/>
                    </a:solidFill>
                  </a:tcPr>
                </a:tc>
                <a:tc>
                  <a:txBody>
                    <a:bodyPr/>
                    <a:lstStyle/>
                    <a:p>
                      <a:r>
                        <a:rPr sz="1500" b="0">
                          <a:solidFill>
                            <a:srgbClr val="000000"/>
                          </a:solidFill>
                          <a:latin typeface="Times New Roman"/>
                        </a:rPr>
                        <a:t>Zhang et al.</a:t>
                      </a:r>
                    </a:p>
                  </a:txBody>
                  <a:tcP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EBF8DC"/>
                    </a:solidFill>
                  </a:tcPr>
                </a:tc>
                <a:tc>
                  <a:txBody>
                    <a:bodyPr/>
                    <a:lstStyle/>
                    <a:p>
                      <a:r>
                        <a:rPr sz="1500" b="0">
                          <a:solidFill>
                            <a:srgbClr val="000000"/>
                          </a:solidFill>
                          <a:latin typeface="Times New Roman"/>
                        </a:rPr>
                        <a:t>Track every detection box</a:t>
                      </a:r>
                    </a:p>
                  </a:txBody>
                  <a:tcP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EBF8DC"/>
                    </a:solidFill>
                  </a:tcPr>
                </a:tc>
                <a:tc>
                  <a:txBody>
                    <a:bodyPr/>
                    <a:lstStyle/>
                    <a:p>
                      <a:r>
                        <a:rPr sz="1500" b="0">
                          <a:solidFill>
                            <a:srgbClr val="000000"/>
                          </a:solidFill>
                          <a:latin typeface="Times New Roman"/>
                        </a:rPr>
                        <a:t>Two-step matching of high then low-score boxes</a:t>
                      </a:r>
                    </a:p>
                  </a:txBody>
                  <a:tcP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EBF8DC"/>
                    </a:solidFill>
                  </a:tcPr>
                </a:tc>
                <a:tc>
                  <a:txBody>
                    <a:bodyPr/>
                    <a:lstStyle/>
                    <a:p>
                      <a:r>
                        <a:rPr sz="1500" b="1">
                          <a:solidFill>
                            <a:srgbClr val="000000"/>
                          </a:solidFill>
                          <a:latin typeface="Times New Roman"/>
                        </a:rPr>
                        <a:t>Recovers occluded players; chosen framework for FootballIQ.</a:t>
                      </a:r>
                    </a:p>
                  </a:txBody>
                  <a:tcP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EBF8DC"/>
                    </a:solidFill>
                  </a:tcPr>
                </a:tc>
                <a:extLst>
                  <a:ext uri="{0D108BD9-81ED-4DB2-BD59-A6C34878D82A}">
                    <a16:rowId xmlns:a16="http://schemas.microsoft.com/office/drawing/2014/main" val="10004"/>
                  </a:ext>
                </a:extLst>
              </a:tr>
              <a:tr h="857250">
                <a:tc>
                  <a:txBody>
                    <a:bodyPr/>
                    <a:lstStyle/>
                    <a:p>
                      <a:r>
                        <a:rPr sz="1500" b="0">
                          <a:solidFill>
                            <a:srgbClr val="000000"/>
                          </a:solidFill>
                          <a:latin typeface="Times New Roman"/>
                        </a:rPr>
                        <a:t>5</a:t>
                      </a:r>
                    </a:p>
                  </a:txBody>
                  <a:tcP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noFill/>
                  </a:tcPr>
                </a:tc>
                <a:tc>
                  <a:txBody>
                    <a:bodyPr/>
                    <a:lstStyle/>
                    <a:p>
                      <a:r>
                        <a:rPr sz="1500" b="0">
                          <a:solidFill>
                            <a:srgbClr val="000000"/>
                          </a:solidFill>
                          <a:latin typeface="Times New Roman"/>
                        </a:rPr>
                        <a:t>SoccerNet (2018)</a:t>
                      </a:r>
                    </a:p>
                  </a:txBody>
                  <a:tcP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noFill/>
                  </a:tcPr>
                </a:tc>
                <a:tc>
                  <a:txBody>
                    <a:bodyPr/>
                    <a:lstStyle/>
                    <a:p>
                      <a:r>
                        <a:rPr sz="1500" b="0">
                          <a:solidFill>
                            <a:srgbClr val="000000"/>
                          </a:solidFill>
                          <a:latin typeface="Times New Roman"/>
                        </a:rPr>
                        <a:t>Giancola et al.</a:t>
                      </a:r>
                    </a:p>
                  </a:txBody>
                  <a:tcP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noFill/>
                  </a:tcPr>
                </a:tc>
                <a:tc>
                  <a:txBody>
                    <a:bodyPr/>
                    <a:lstStyle/>
                    <a:p>
                      <a:r>
                        <a:rPr sz="1500" b="0">
                          <a:solidFill>
                            <a:srgbClr val="000000"/>
                          </a:solidFill>
                          <a:latin typeface="Times New Roman"/>
                        </a:rPr>
                        <a:t>Soccer action spotting dataset</a:t>
                      </a:r>
                    </a:p>
                  </a:txBody>
                  <a:tcP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noFill/>
                  </a:tcPr>
                </a:tc>
                <a:tc>
                  <a:txBody>
                    <a:bodyPr/>
                    <a:lstStyle/>
                    <a:p>
                      <a:r>
                        <a:rPr sz="1500" b="0">
                          <a:solidFill>
                            <a:srgbClr val="000000"/>
                          </a:solidFill>
                          <a:latin typeface="Times New Roman"/>
                        </a:rPr>
                        <a:t>Large annotated broadcast match benchmark</a:t>
                      </a:r>
                    </a:p>
                  </a:txBody>
                  <a:tcP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noFill/>
                  </a:tcPr>
                </a:tc>
                <a:tc>
                  <a:txBody>
                    <a:bodyPr/>
                    <a:lstStyle/>
                    <a:p>
                      <a:r>
                        <a:rPr sz="1500" b="0">
                          <a:solidFill>
                            <a:srgbClr val="000000"/>
                          </a:solidFill>
                          <a:latin typeface="Times New Roman"/>
                        </a:rPr>
                        <a:t>Standard action benchmark; focuses on events rather than 2D positions.</a:t>
                      </a:r>
                    </a:p>
                  </a:txBody>
                  <a:tcP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noFill/>
                  </a:tcPr>
                </a:tc>
                <a:extLst>
                  <a:ext uri="{0D108BD9-81ED-4DB2-BD59-A6C34878D82A}">
                    <a16:rowId xmlns:a16="http://schemas.microsoft.com/office/drawing/2014/main" val="10005"/>
                  </a:ext>
                </a:extLst>
              </a:tr>
              <a:tr h="857250">
                <a:tc>
                  <a:txBody>
                    <a:bodyPr/>
                    <a:lstStyle/>
                    <a:p>
                      <a:r>
                        <a:rPr sz="1500" b="0">
                          <a:solidFill>
                            <a:srgbClr val="000000"/>
                          </a:solidFill>
                          <a:latin typeface="Times New Roman"/>
                        </a:rPr>
                        <a:t>6</a:t>
                      </a:r>
                    </a:p>
                  </a:txBody>
                  <a:tcP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noFill/>
                  </a:tcPr>
                </a:tc>
                <a:tc>
                  <a:txBody>
                    <a:bodyPr/>
                    <a:lstStyle/>
                    <a:p>
                      <a:r>
                        <a:rPr sz="1500" b="0">
                          <a:solidFill>
                            <a:srgbClr val="000000"/>
                          </a:solidFill>
                          <a:latin typeface="Times New Roman"/>
                        </a:rPr>
                        <a:t>SoccerNet-Tracking (2022)</a:t>
                      </a:r>
                    </a:p>
                  </a:txBody>
                  <a:tcP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noFill/>
                  </a:tcPr>
                </a:tc>
                <a:tc>
                  <a:txBody>
                    <a:bodyPr/>
                    <a:lstStyle/>
                    <a:p>
                      <a:r>
                        <a:rPr sz="1500" b="0">
                          <a:solidFill>
                            <a:srgbClr val="000000"/>
                          </a:solidFill>
                          <a:latin typeface="Times New Roman"/>
                        </a:rPr>
                        <a:t>Cioppa et al.</a:t>
                      </a:r>
                    </a:p>
                  </a:txBody>
                  <a:tcP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noFill/>
                  </a:tcPr>
                </a:tc>
                <a:tc>
                  <a:txBody>
                    <a:bodyPr/>
                    <a:lstStyle/>
                    <a:p>
                      <a:r>
                        <a:rPr sz="1500" b="0">
                          <a:solidFill>
                            <a:srgbClr val="000000"/>
                          </a:solidFill>
                          <a:latin typeface="Times New Roman"/>
                        </a:rPr>
                        <a:t>Soccer MOT benchmark</a:t>
                      </a:r>
                    </a:p>
                  </a:txBody>
                  <a:tcP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noFill/>
                  </a:tcPr>
                </a:tc>
                <a:tc>
                  <a:txBody>
                    <a:bodyPr/>
                    <a:lstStyle/>
                    <a:p>
                      <a:r>
                        <a:rPr sz="1500" b="0">
                          <a:solidFill>
                            <a:srgbClr val="000000"/>
                          </a:solidFill>
                          <a:latin typeface="Times New Roman"/>
                        </a:rPr>
                        <a:t>Annotated players, referees, and match ball</a:t>
                      </a:r>
                    </a:p>
                  </a:txBody>
                  <a:tcP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noFill/>
                  </a:tcPr>
                </a:tc>
                <a:tc>
                  <a:txBody>
                    <a:bodyPr/>
                    <a:lstStyle/>
                    <a:p>
                      <a:r>
                        <a:rPr sz="1500" b="0">
                          <a:solidFill>
                            <a:srgbClr val="000000"/>
                          </a:solidFill>
                          <a:latin typeface="Times New Roman"/>
                        </a:rPr>
                        <a:t>Quantified heavy impact of uniform look-alikes &amp; rapid panning.</a:t>
                      </a:r>
                    </a:p>
                  </a:txBody>
                  <a:tcP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noFill/>
                  </a:tcPr>
                </a:tc>
                <a:extLst>
                  <a:ext uri="{0D108BD9-81ED-4DB2-BD59-A6C34878D82A}">
                    <a16:rowId xmlns:a16="http://schemas.microsoft.com/office/drawing/2014/main" val="10006"/>
                  </a:ext>
                </a:extLst>
              </a:tr>
              <a:tr h="857250">
                <a:tc>
                  <a:txBody>
                    <a:bodyPr/>
                    <a:lstStyle/>
                    <a:p>
                      <a:r>
                        <a:rPr sz="1500" b="0">
                          <a:solidFill>
                            <a:srgbClr val="000000"/>
                          </a:solidFill>
                          <a:latin typeface="Times New Roman"/>
                        </a:rPr>
                        <a:t>7</a:t>
                      </a:r>
                    </a:p>
                  </a:txBody>
                  <a:tcP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noFill/>
                  </a:tcPr>
                </a:tc>
                <a:tc>
                  <a:txBody>
                    <a:bodyPr/>
                    <a:lstStyle/>
                    <a:p>
                      <a:r>
                        <a:rPr sz="1500" b="0">
                          <a:solidFill>
                            <a:srgbClr val="000000"/>
                          </a:solidFill>
                          <a:latin typeface="Times New Roman"/>
                        </a:rPr>
                        <a:t>Sports Field Localization (2017)</a:t>
                      </a:r>
                    </a:p>
                  </a:txBody>
                  <a:tcP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noFill/>
                  </a:tcPr>
                </a:tc>
                <a:tc>
                  <a:txBody>
                    <a:bodyPr/>
                    <a:lstStyle/>
                    <a:p>
                      <a:r>
                        <a:rPr sz="1500" b="0">
                          <a:solidFill>
                            <a:srgbClr val="000000"/>
                          </a:solidFill>
                          <a:latin typeface="Times New Roman"/>
                        </a:rPr>
                        <a:t>Homayounfar et al.</a:t>
                      </a:r>
                    </a:p>
                  </a:txBody>
                  <a:tcP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noFill/>
                  </a:tcPr>
                </a:tc>
                <a:tc>
                  <a:txBody>
                    <a:bodyPr/>
                    <a:lstStyle/>
                    <a:p>
                      <a:r>
                        <a:rPr sz="1500" b="0">
                          <a:solidFill>
                            <a:srgbClr val="000000"/>
                          </a:solidFill>
                          <a:latin typeface="Times New Roman"/>
                        </a:rPr>
                        <a:t>Image-to-field registration</a:t>
                      </a:r>
                    </a:p>
                  </a:txBody>
                  <a:tcP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noFill/>
                  </a:tcPr>
                </a:tc>
                <a:tc>
                  <a:txBody>
                    <a:bodyPr/>
                    <a:lstStyle/>
                    <a:p>
                      <a:r>
                        <a:rPr sz="1500" b="0">
                          <a:solidFill>
                            <a:srgbClr val="000000"/>
                          </a:solidFill>
                          <a:latin typeface="Times New Roman"/>
                        </a:rPr>
                        <a:t>Deep structured prediction of pitch lines</a:t>
                      </a:r>
                    </a:p>
                  </a:txBody>
                  <a:tcP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noFill/>
                  </a:tcPr>
                </a:tc>
                <a:tc>
                  <a:txBody>
                    <a:bodyPr/>
                    <a:lstStyle/>
                    <a:p>
                      <a:r>
                        <a:rPr sz="1500" b="0">
                          <a:solidFill>
                            <a:srgbClr val="000000"/>
                          </a:solidFill>
                          <a:latin typeface="Times New Roman"/>
                        </a:rPr>
                        <a:t>Fully automated homography, but needs specialized broadcast datasets.</a:t>
                      </a:r>
                    </a:p>
                  </a:txBody>
                  <a:tcP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noFill/>
                  </a:tcPr>
                </a:tc>
                <a:extLst>
                  <a:ext uri="{0D108BD9-81ED-4DB2-BD59-A6C34878D82A}">
                    <a16:rowId xmlns:a16="http://schemas.microsoft.com/office/drawing/2014/main" val="10007"/>
                  </a:ext>
                </a:extLst>
              </a:tr>
            </a:tbl>
          </a:graphicData>
        </a:graphic>
      </p:graphicFrame>
      <p:pic>
        <p:nvPicPr>
          <p:cNvPr id="9" name="Picture 8">
            <a:extLst>
              <a:ext uri="{FF2B5EF4-FFF2-40B4-BE49-F238E27FC236}">
                <a16:creationId xmlns:a16="http://schemas.microsoft.com/office/drawing/2014/main" id="{1F0D420E-600A-B345-3A16-1C23AD860F18}"/>
              </a:ext>
            </a:extLst>
          </p:cNvPr>
          <p:cNvPicPr>
            <a:picLocks noChangeAspect="1"/>
          </p:cNvPicPr>
          <p:nvPr/>
        </p:nvPicPr>
        <p:blipFill>
          <a:blip r:embed="rId2"/>
          <a:stretch>
            <a:fillRect/>
          </a:stretch>
        </p:blipFill>
        <p:spPr>
          <a:xfrm>
            <a:off x="14791195" y="0"/>
            <a:ext cx="3496805" cy="1605366"/>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4" name="Group 2"/>
          <p:cNvGrpSpPr/>
          <p:nvPr/>
        </p:nvGrpSpPr>
        <p:grpSpPr>
          <a:xfrm>
            <a:off x="990600" y="547044"/>
            <a:ext cx="15826740" cy="1574722"/>
            <a:chOff x="0" y="-225908"/>
            <a:chExt cx="21102320" cy="2877034"/>
          </a:xfrm>
        </p:grpSpPr>
        <p:sp>
          <p:nvSpPr>
            <p:cNvPr id="25" name="Freeform 3"/>
            <p:cNvSpPr/>
            <p:nvPr/>
          </p:nvSpPr>
          <p:spPr>
            <a:xfrm>
              <a:off x="0" y="0"/>
              <a:ext cx="21031200" cy="2651126"/>
            </a:xfrm>
            <a:custGeom>
              <a:avLst/>
              <a:gdLst/>
              <a:ahLst/>
              <a:cxnLst/>
              <a:rect l="l" t="t" r="r" b="b"/>
              <a:pathLst>
                <a:path w="21031200" h="2651126">
                  <a:moveTo>
                    <a:pt x="0" y="0"/>
                  </a:moveTo>
                  <a:lnTo>
                    <a:pt x="21031200" y="0"/>
                  </a:lnTo>
                  <a:lnTo>
                    <a:pt x="21031200" y="2651126"/>
                  </a:lnTo>
                  <a:lnTo>
                    <a:pt x="0" y="2651126"/>
                  </a:lnTo>
                  <a:close/>
                </a:path>
              </a:pathLst>
            </a:custGeom>
            <a:solidFill>
              <a:srgbClr val="000000">
                <a:alpha val="0"/>
              </a:srgbClr>
            </a:solidFill>
          </p:spPr>
          <p:txBody>
            <a:bodyPr/>
            <a:lstStyle/>
            <a:p>
              <a:endParaRPr lang="en-IN"/>
            </a:p>
          </p:txBody>
        </p:sp>
        <p:sp>
          <p:nvSpPr>
            <p:cNvPr id="26" name="TextBox 4"/>
            <p:cNvSpPr txBox="1"/>
            <p:nvPr/>
          </p:nvSpPr>
          <p:spPr>
            <a:xfrm>
              <a:off x="71120" y="-225908"/>
              <a:ext cx="21031200" cy="2708277"/>
            </a:xfrm>
            <a:prstGeom prst="rect">
              <a:avLst/>
            </a:prstGeom>
          </p:spPr>
          <p:txBody>
            <a:bodyPr lIns="0" tIns="0" rIns="0" bIns="0" rtlCol="0" anchor="ctr"/>
            <a:lstStyle/>
            <a:p>
              <a:pPr algn="l">
                <a:lnSpc>
                  <a:spcPts val="7128"/>
                </a:lnSpc>
              </a:pPr>
              <a:r>
                <a:rPr lang="en-US" sz="6600" b="1" dirty="0" smtClean="0">
                  <a:solidFill>
                    <a:srgbClr val="000000"/>
                  </a:solidFill>
                  <a:latin typeface="Times New Roman" panose="02020603050405020304" pitchFamily="18" charset="0"/>
                  <a:ea typeface="Times New Roman Bold"/>
                  <a:cs typeface="Times New Roman Bold"/>
                  <a:sym typeface="Times New Roman Bold"/>
                </a:rPr>
                <a:t>Comparison of the Models</a:t>
              </a:r>
              <a:endParaRPr lang="en-US" sz="6600" b="1" dirty="0">
                <a:solidFill>
                  <a:srgbClr val="000000"/>
                </a:solidFill>
                <a:latin typeface="Times New Roman" panose="02020603050405020304" pitchFamily="18" charset="0"/>
                <a:ea typeface="Times New Roman Bold"/>
                <a:cs typeface="Times New Roman Bold"/>
                <a:sym typeface="Times New Roman Bold"/>
              </a:endParaRPr>
            </a:p>
          </p:txBody>
        </p:sp>
      </p:grpSp>
      <p:sp>
        <p:nvSpPr>
          <p:cNvPr id="39" name="Freeform 6"/>
          <p:cNvSpPr/>
          <p:nvPr/>
        </p:nvSpPr>
        <p:spPr>
          <a:xfrm>
            <a:off x="6057900" y="9534525"/>
            <a:ext cx="6172200" cy="547688"/>
          </a:xfrm>
          <a:custGeom>
            <a:avLst/>
            <a:gdLst/>
            <a:ahLst/>
            <a:cxnLst/>
            <a:rect l="l" t="t" r="r" b="b"/>
            <a:pathLst>
              <a:path w="8229600" h="730250">
                <a:moveTo>
                  <a:pt x="0" y="0"/>
                </a:moveTo>
                <a:lnTo>
                  <a:pt x="8229600" y="0"/>
                </a:lnTo>
                <a:lnTo>
                  <a:pt x="8229600" y="730250"/>
                </a:lnTo>
                <a:lnTo>
                  <a:pt x="0" y="730250"/>
                </a:lnTo>
                <a:close/>
              </a:path>
            </a:pathLst>
          </a:custGeom>
          <a:solidFill>
            <a:srgbClr val="000000">
              <a:alpha val="0"/>
            </a:srgbClr>
          </a:solidFill>
        </p:spPr>
        <p:txBody>
          <a:bodyPr/>
          <a:lstStyle/>
          <a:p>
            <a:endParaRPr lang="en-IN"/>
          </a:p>
        </p:txBody>
      </p:sp>
      <p:sp>
        <p:nvSpPr>
          <p:cNvPr id="40" name="TextBox 7"/>
          <p:cNvSpPr txBox="1"/>
          <p:nvPr/>
        </p:nvSpPr>
        <p:spPr>
          <a:xfrm>
            <a:off x="6324600" y="9615297"/>
            <a:ext cx="6057900" cy="576263"/>
          </a:xfrm>
          <a:prstGeom prst="rect">
            <a:avLst/>
          </a:prstGeom>
        </p:spPr>
        <p:txBody>
          <a:bodyPr lIns="0" tIns="0" rIns="0" bIns="0" rtlCol="0" anchor="ctr"/>
          <a:lstStyle/>
          <a:p>
            <a:pPr algn="ctr">
              <a:lnSpc>
                <a:spcPts val="2160"/>
              </a:lnSpc>
            </a:pPr>
            <a:r>
              <a:rPr lang="en-US" sz="1800" dirty="0">
                <a:solidFill>
                  <a:srgbClr val="767676"/>
                </a:solidFill>
                <a:latin typeface="Times New Roman"/>
                <a:ea typeface="Times New Roman"/>
                <a:cs typeface="Times New Roman"/>
                <a:sym typeface="Times New Roman"/>
              </a:rPr>
              <a:t>Department of Computer Engineering</a:t>
            </a:r>
          </a:p>
        </p:txBody>
      </p:sp>
      <p:graphicFrame>
        <p:nvGraphicFramePr>
          <p:cNvPr id="41" name="Table 40"/>
          <p:cNvGraphicFramePr>
            <a:graphicFrameLocks noGrp="1"/>
          </p:cNvGraphicFramePr>
          <p:nvPr/>
        </p:nvGraphicFramePr>
        <p:xfrm>
          <a:off x="1097280" y="2011680"/>
          <a:ext cx="16093440" cy="3931920"/>
        </p:xfrm>
        <a:graphic>
          <a:graphicData uri="http://schemas.openxmlformats.org/drawingml/2006/table">
            <a:tbl>
              <a:tblPr firstRow="1" bandRow="1">
                <a:tableStyleId>{5C22544A-7EE6-4342-B048-85BDC9FD1C3A}</a:tableStyleId>
              </a:tblPr>
              <a:tblGrid>
                <a:gridCol w="2286000">
                  <a:extLst>
                    <a:ext uri="{9D8B030D-6E8A-4147-A177-3AD203B41FA5}">
                      <a16:colId xmlns:a16="http://schemas.microsoft.com/office/drawing/2014/main" val="20000"/>
                    </a:ext>
                  </a:extLst>
                </a:gridCol>
                <a:gridCol w="2194560">
                  <a:extLst>
                    <a:ext uri="{9D8B030D-6E8A-4147-A177-3AD203B41FA5}">
                      <a16:colId xmlns:a16="http://schemas.microsoft.com/office/drawing/2014/main" val="20001"/>
                    </a:ext>
                  </a:extLst>
                </a:gridCol>
                <a:gridCol w="2560320">
                  <a:extLst>
                    <a:ext uri="{9D8B030D-6E8A-4147-A177-3AD203B41FA5}">
                      <a16:colId xmlns:a16="http://schemas.microsoft.com/office/drawing/2014/main" val="20002"/>
                    </a:ext>
                  </a:extLst>
                </a:gridCol>
                <a:gridCol w="2743200">
                  <a:extLst>
                    <a:ext uri="{9D8B030D-6E8A-4147-A177-3AD203B41FA5}">
                      <a16:colId xmlns:a16="http://schemas.microsoft.com/office/drawing/2014/main" val="20003"/>
                    </a:ext>
                  </a:extLst>
                </a:gridCol>
                <a:gridCol w="2651760">
                  <a:extLst>
                    <a:ext uri="{9D8B030D-6E8A-4147-A177-3AD203B41FA5}">
                      <a16:colId xmlns:a16="http://schemas.microsoft.com/office/drawing/2014/main" val="20004"/>
                    </a:ext>
                  </a:extLst>
                </a:gridCol>
                <a:gridCol w="3657600">
                  <a:extLst>
                    <a:ext uri="{9D8B030D-6E8A-4147-A177-3AD203B41FA5}">
                      <a16:colId xmlns:a16="http://schemas.microsoft.com/office/drawing/2014/main" val="20005"/>
                    </a:ext>
                  </a:extLst>
                </a:gridCol>
              </a:tblGrid>
              <a:tr h="982980">
                <a:tc>
                  <a:txBody>
                    <a:bodyPr/>
                    <a:lstStyle/>
                    <a:p>
                      <a:r>
                        <a:rPr sz="1700" b="1">
                          <a:solidFill>
                            <a:srgbClr val="C9FF3F"/>
                          </a:solidFill>
                          <a:latin typeface="Times New Roman"/>
                        </a:rPr>
                        <a:t>Tracking Framework</a:t>
                      </a:r>
                    </a:p>
                  </a:txBody>
                  <a:tcP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123524"/>
                    </a:solidFill>
                  </a:tcPr>
                </a:tc>
                <a:tc>
                  <a:txBody>
                    <a:bodyPr/>
                    <a:lstStyle/>
                    <a:p>
                      <a:r>
                        <a:rPr sz="1700" b="1">
                          <a:solidFill>
                            <a:srgbClr val="C9FF3F"/>
                          </a:solidFill>
                          <a:latin typeface="Times New Roman"/>
                        </a:rPr>
                        <a:t>Motion Model</a:t>
                      </a:r>
                    </a:p>
                  </a:txBody>
                  <a:tcP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123524"/>
                    </a:solidFill>
                  </a:tcPr>
                </a:tc>
                <a:tc>
                  <a:txBody>
                    <a:bodyPr/>
                    <a:lstStyle/>
                    <a:p>
                      <a:r>
                        <a:rPr sz="1700" b="1">
                          <a:solidFill>
                            <a:srgbClr val="C9FF3F"/>
                          </a:solidFill>
                          <a:latin typeface="Times New Roman"/>
                        </a:rPr>
                        <a:t>Appearance Model</a:t>
                      </a:r>
                    </a:p>
                  </a:txBody>
                  <a:tcP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123524"/>
                    </a:solidFill>
                  </a:tcPr>
                </a:tc>
                <a:tc>
                  <a:txBody>
                    <a:bodyPr/>
                    <a:lstStyle/>
                    <a:p>
                      <a:r>
                        <a:rPr sz="1700" b="1">
                          <a:solidFill>
                            <a:srgbClr val="C9FF3F"/>
                          </a:solidFill>
                          <a:latin typeface="Times New Roman"/>
                        </a:rPr>
                        <a:t>Low-Score Box Recovery</a:t>
                      </a:r>
                    </a:p>
                  </a:txBody>
                  <a:tcP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123524"/>
                    </a:solidFill>
                  </a:tcPr>
                </a:tc>
                <a:tc>
                  <a:txBody>
                    <a:bodyPr/>
                    <a:lstStyle/>
                    <a:p>
                      <a:r>
                        <a:rPr sz="1700" b="1">
                          <a:solidFill>
                            <a:srgbClr val="C9FF3F"/>
                          </a:solidFill>
                          <a:latin typeface="Times New Roman"/>
                        </a:rPr>
                        <a:t>Inference Overhead</a:t>
                      </a:r>
                    </a:p>
                  </a:txBody>
                  <a:tcP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123524"/>
                    </a:solidFill>
                  </a:tcPr>
                </a:tc>
                <a:tc>
                  <a:txBody>
                    <a:bodyPr/>
                    <a:lstStyle/>
                    <a:p>
                      <a:r>
                        <a:rPr sz="1700" b="1">
                          <a:solidFill>
                            <a:srgbClr val="C9FF3F"/>
                          </a:solidFill>
                          <a:latin typeface="Times New Roman"/>
                        </a:rPr>
                        <a:t>Suitability for FootballIQ</a:t>
                      </a:r>
                    </a:p>
                  </a:txBody>
                  <a:tcP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123524"/>
                    </a:solidFill>
                  </a:tcPr>
                </a:tc>
                <a:extLst>
                  <a:ext uri="{0D108BD9-81ED-4DB2-BD59-A6C34878D82A}">
                    <a16:rowId xmlns:a16="http://schemas.microsoft.com/office/drawing/2014/main" val="10000"/>
                  </a:ext>
                </a:extLst>
              </a:tr>
              <a:tr h="982980">
                <a:tc>
                  <a:txBody>
                    <a:bodyPr/>
                    <a:lstStyle/>
                    <a:p>
                      <a:r>
                        <a:rPr sz="1600">
                          <a:solidFill>
                            <a:srgbClr val="000000"/>
                          </a:solidFill>
                          <a:latin typeface="Times New Roman"/>
                        </a:rPr>
                        <a:t>SORT</a:t>
                      </a:r>
                    </a:p>
                  </a:txBody>
                  <a:tcP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noFill/>
                  </a:tcPr>
                </a:tc>
                <a:tc>
                  <a:txBody>
                    <a:bodyPr/>
                    <a:lstStyle/>
                    <a:p>
                      <a:r>
                        <a:rPr sz="1600">
                          <a:solidFill>
                            <a:srgbClr val="000000"/>
                          </a:solidFill>
                          <a:latin typeface="Times New Roman"/>
                        </a:rPr>
                        <a:t>Kalman Filter</a:t>
                      </a:r>
                    </a:p>
                  </a:txBody>
                  <a:tcP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noFill/>
                  </a:tcPr>
                </a:tc>
                <a:tc>
                  <a:txBody>
                    <a:bodyPr/>
                    <a:lstStyle/>
                    <a:p>
                      <a:r>
                        <a:rPr sz="1600">
                          <a:solidFill>
                            <a:srgbClr val="000000"/>
                          </a:solidFill>
                          <a:latin typeface="Times New Roman"/>
                        </a:rPr>
                        <a:t>None (IoU Only)</a:t>
                      </a:r>
                    </a:p>
                  </a:txBody>
                  <a:tcP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noFill/>
                  </a:tcPr>
                </a:tc>
                <a:tc>
                  <a:txBody>
                    <a:bodyPr/>
                    <a:lstStyle/>
                    <a:p>
                      <a:r>
                        <a:rPr sz="1600">
                          <a:solidFill>
                            <a:srgbClr val="000000"/>
                          </a:solidFill>
                          <a:latin typeface="Times New Roman"/>
                        </a:rPr>
                        <a:t>No (Discarded)</a:t>
                      </a:r>
                    </a:p>
                  </a:txBody>
                  <a:tcP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noFill/>
                  </a:tcPr>
                </a:tc>
                <a:tc>
                  <a:txBody>
                    <a:bodyPr/>
                    <a:lstStyle/>
                    <a:p>
                      <a:r>
                        <a:rPr sz="1600">
                          <a:solidFill>
                            <a:srgbClr val="000000"/>
                          </a:solidFill>
                          <a:latin typeface="Times New Roman"/>
                        </a:rPr>
                        <a:t>Minimal (CPU Real-time)</a:t>
                      </a:r>
                    </a:p>
                  </a:txBody>
                  <a:tcP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noFill/>
                  </a:tcPr>
                </a:tc>
                <a:tc>
                  <a:txBody>
                    <a:bodyPr/>
                    <a:lstStyle/>
                    <a:p>
                      <a:r>
                        <a:rPr sz="1600">
                          <a:solidFill>
                            <a:srgbClr val="000000"/>
                          </a:solidFill>
                          <a:latin typeface="Times New Roman"/>
                        </a:rPr>
                        <a:t>Poor: Frequent ID switches during scrums</a:t>
                      </a:r>
                    </a:p>
                  </a:txBody>
                  <a:tcP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noFill/>
                  </a:tcPr>
                </a:tc>
                <a:extLst>
                  <a:ext uri="{0D108BD9-81ED-4DB2-BD59-A6C34878D82A}">
                    <a16:rowId xmlns:a16="http://schemas.microsoft.com/office/drawing/2014/main" val="10001"/>
                  </a:ext>
                </a:extLst>
              </a:tr>
              <a:tr h="982980">
                <a:tc>
                  <a:txBody>
                    <a:bodyPr/>
                    <a:lstStyle/>
                    <a:p>
                      <a:r>
                        <a:rPr sz="1600">
                          <a:solidFill>
                            <a:srgbClr val="000000"/>
                          </a:solidFill>
                          <a:latin typeface="Times New Roman"/>
                        </a:rPr>
                        <a:t>DeepSORT</a:t>
                      </a:r>
                    </a:p>
                  </a:txBody>
                  <a:tcP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noFill/>
                  </a:tcPr>
                </a:tc>
                <a:tc>
                  <a:txBody>
                    <a:bodyPr/>
                    <a:lstStyle/>
                    <a:p>
                      <a:r>
                        <a:rPr sz="1600">
                          <a:solidFill>
                            <a:srgbClr val="000000"/>
                          </a:solidFill>
                          <a:latin typeface="Times New Roman"/>
                        </a:rPr>
                        <a:t>Kalman Filter</a:t>
                      </a:r>
                    </a:p>
                  </a:txBody>
                  <a:tcP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noFill/>
                  </a:tcPr>
                </a:tc>
                <a:tc>
                  <a:txBody>
                    <a:bodyPr/>
                    <a:lstStyle/>
                    <a:p>
                      <a:r>
                        <a:rPr sz="1600">
                          <a:solidFill>
                            <a:srgbClr val="000000"/>
                          </a:solidFill>
                          <a:latin typeface="Times New Roman"/>
                        </a:rPr>
                        <a:t>Deep CNN Embeddings</a:t>
                      </a:r>
                    </a:p>
                  </a:txBody>
                  <a:tcP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noFill/>
                  </a:tcPr>
                </a:tc>
                <a:tc>
                  <a:txBody>
                    <a:bodyPr/>
                    <a:lstStyle/>
                    <a:p>
                      <a:r>
                        <a:rPr sz="1600">
                          <a:solidFill>
                            <a:srgbClr val="000000"/>
                          </a:solidFill>
                          <a:latin typeface="Times New Roman"/>
                        </a:rPr>
                        <a:t>No (Discarded)</a:t>
                      </a:r>
                    </a:p>
                  </a:txBody>
                  <a:tcP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noFill/>
                  </a:tcPr>
                </a:tc>
                <a:tc>
                  <a:txBody>
                    <a:bodyPr/>
                    <a:lstStyle/>
                    <a:p>
                      <a:r>
                        <a:rPr sz="1600">
                          <a:solidFill>
                            <a:srgbClr val="000000"/>
                          </a:solidFill>
                          <a:latin typeface="Times New Roman"/>
                        </a:rPr>
                        <a:t>Moderate (Re-ID CNN)</a:t>
                      </a:r>
                    </a:p>
                  </a:txBody>
                  <a:tcP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noFill/>
                  </a:tcPr>
                </a:tc>
                <a:tc>
                  <a:txBody>
                    <a:bodyPr/>
                    <a:lstStyle/>
                    <a:p>
                      <a:r>
                        <a:rPr sz="1600">
                          <a:solidFill>
                            <a:srgbClr val="000000"/>
                          </a:solidFill>
                          <a:latin typeface="Times New Roman"/>
                        </a:rPr>
                        <a:t>Fair: High computation on standard laptops</a:t>
                      </a:r>
                    </a:p>
                  </a:txBody>
                  <a:tcP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noFill/>
                  </a:tcPr>
                </a:tc>
                <a:extLst>
                  <a:ext uri="{0D108BD9-81ED-4DB2-BD59-A6C34878D82A}">
                    <a16:rowId xmlns:a16="http://schemas.microsoft.com/office/drawing/2014/main" val="10002"/>
                  </a:ext>
                </a:extLst>
              </a:tr>
              <a:tr h="982980">
                <a:tc>
                  <a:txBody>
                    <a:bodyPr/>
                    <a:lstStyle/>
                    <a:p>
                      <a:r>
                        <a:rPr sz="1600" b="1">
                          <a:solidFill>
                            <a:srgbClr val="000000"/>
                          </a:solidFill>
                          <a:latin typeface="Times New Roman"/>
                        </a:rPr>
                        <a:t>ByteTrack</a:t>
                      </a:r>
                    </a:p>
                  </a:txBody>
                  <a:tcP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EBF8DC"/>
                    </a:solidFill>
                  </a:tcPr>
                </a:tc>
                <a:tc>
                  <a:txBody>
                    <a:bodyPr/>
                    <a:lstStyle/>
                    <a:p>
                      <a:r>
                        <a:rPr sz="1600" b="0">
                          <a:solidFill>
                            <a:srgbClr val="000000"/>
                          </a:solidFill>
                          <a:latin typeface="Times New Roman"/>
                        </a:rPr>
                        <a:t>Kalman Filter</a:t>
                      </a:r>
                    </a:p>
                  </a:txBody>
                  <a:tcP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EBF8DC"/>
                    </a:solidFill>
                  </a:tcPr>
                </a:tc>
                <a:tc>
                  <a:txBody>
                    <a:bodyPr/>
                    <a:lstStyle/>
                    <a:p>
                      <a:r>
                        <a:rPr sz="1600" b="0">
                          <a:solidFill>
                            <a:srgbClr val="000000"/>
                          </a:solidFill>
                          <a:latin typeface="Times New Roman"/>
                        </a:rPr>
                        <a:t>Adaptive Association</a:t>
                      </a:r>
                    </a:p>
                  </a:txBody>
                  <a:tcP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EBF8DC"/>
                    </a:solidFill>
                  </a:tcPr>
                </a:tc>
                <a:tc>
                  <a:txBody>
                    <a:bodyPr/>
                    <a:lstStyle/>
                    <a:p>
                      <a:r>
                        <a:rPr sz="1600" b="0">
                          <a:solidFill>
                            <a:srgbClr val="000000"/>
                          </a:solidFill>
                          <a:latin typeface="Times New Roman"/>
                        </a:rPr>
                        <a:t>Yes (2nd Pass Matching)</a:t>
                      </a:r>
                    </a:p>
                  </a:txBody>
                  <a:tcP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EBF8DC"/>
                    </a:solidFill>
                  </a:tcPr>
                </a:tc>
                <a:tc>
                  <a:txBody>
                    <a:bodyPr/>
                    <a:lstStyle/>
                    <a:p>
                      <a:r>
                        <a:rPr sz="1600" b="0">
                          <a:solidFill>
                            <a:srgbClr val="000000"/>
                          </a:solidFill>
                          <a:latin typeface="Times New Roman"/>
                        </a:rPr>
                        <a:t>Low (Detector Bottleneck)</a:t>
                      </a:r>
                    </a:p>
                  </a:txBody>
                  <a:tcP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EBF8DC"/>
                    </a:solidFill>
                  </a:tcPr>
                </a:tc>
                <a:tc>
                  <a:txBody>
                    <a:bodyPr/>
                    <a:lstStyle/>
                    <a:p>
                      <a:r>
                        <a:rPr sz="1600" b="1">
                          <a:solidFill>
                            <a:srgbClr val="000000"/>
                          </a:solidFill>
                          <a:latin typeface="Times New Roman"/>
                        </a:rPr>
                        <a:t>Best: Preserves tracks without Re-ID overhead</a:t>
                      </a:r>
                    </a:p>
                  </a:txBody>
                  <a:tcP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EBF8DC"/>
                    </a:solidFill>
                  </a:tcPr>
                </a:tc>
                <a:extLst>
                  <a:ext uri="{0D108BD9-81ED-4DB2-BD59-A6C34878D82A}">
                    <a16:rowId xmlns:a16="http://schemas.microsoft.com/office/drawing/2014/main" val="10003"/>
                  </a:ext>
                </a:extLst>
              </a:tr>
            </a:tbl>
          </a:graphicData>
        </a:graphic>
      </p:graphicFrame>
      <p:sp>
        <p:nvSpPr>
          <p:cNvPr id="42" name="Rounded Rectangle 41"/>
          <p:cNvSpPr/>
          <p:nvPr/>
        </p:nvSpPr>
        <p:spPr>
          <a:xfrm>
            <a:off x="1097280" y="6309360"/>
            <a:ext cx="16093440" cy="2011680"/>
          </a:xfrm>
          <a:prstGeom prst="roundRect">
            <a:avLst/>
          </a:prstGeom>
          <a:solidFill>
            <a:srgbClr val="F5F7F5"/>
          </a:solidFill>
          <a:ln w="19050">
            <a:solidFill>
              <a:srgbClr val="12352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1371600" y="6446520"/>
            <a:ext cx="15544800" cy="1737360"/>
          </a:xfrm>
          <a:prstGeom prst="rect">
            <a:avLst/>
          </a:prstGeom>
          <a:noFill/>
        </p:spPr>
        <p:txBody>
          <a:bodyPr wrap="square" lIns="0" tIns="0" rIns="0" bIns="0">
            <a:spAutoFit/>
          </a:bodyPr>
          <a:lstStyle/>
          <a:p>
            <a:pPr>
              <a:spcAft>
                <a:spcPts val="800"/>
              </a:spcAft>
            </a:pPr>
            <a:r>
              <a:rPr sz="2200" b="1">
                <a:solidFill>
                  <a:srgbClr val="123524"/>
                </a:solidFill>
                <a:latin typeface="Times New Roman"/>
              </a:rPr>
              <a:t>Comparative Takeaway:</a:t>
            </a:r>
          </a:p>
          <a:p>
            <a:r>
              <a:rPr sz="2000">
                <a:solidFill>
                  <a:srgbClr val="000000"/>
                </a:solidFill>
                <a:latin typeface="Times New Roman"/>
              </a:rPr>
              <a:t>ByteTrack's two-step association algorithm matches both high and low-confidence detection boxes, reliably maintaining player trajectories through dense occlusions, scrums, and camera pans. Unlike DeepSORT, it achieves high tracking accuracy without the prohibitive computational overhead of deep appearance feature extraction.</a:t>
            </a:r>
          </a:p>
        </p:txBody>
      </p:sp>
      <p:pic>
        <p:nvPicPr>
          <p:cNvPr id="11" name="Picture 10">
            <a:extLst>
              <a:ext uri="{FF2B5EF4-FFF2-40B4-BE49-F238E27FC236}">
                <a16:creationId xmlns:a16="http://schemas.microsoft.com/office/drawing/2014/main" id="{1F0D420E-600A-B345-3A16-1C23AD860F18}"/>
              </a:ext>
            </a:extLst>
          </p:cNvPr>
          <p:cNvPicPr>
            <a:picLocks noChangeAspect="1"/>
          </p:cNvPicPr>
          <p:nvPr/>
        </p:nvPicPr>
        <p:blipFill>
          <a:blip r:embed="rId2"/>
          <a:stretch>
            <a:fillRect/>
          </a:stretch>
        </p:blipFill>
        <p:spPr>
          <a:xfrm>
            <a:off x="14791195" y="40554"/>
            <a:ext cx="3496805" cy="1605366"/>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4" name="Group 2"/>
          <p:cNvGrpSpPr/>
          <p:nvPr/>
        </p:nvGrpSpPr>
        <p:grpSpPr>
          <a:xfrm>
            <a:off x="990600" y="547044"/>
            <a:ext cx="15826740" cy="1574722"/>
            <a:chOff x="0" y="-225908"/>
            <a:chExt cx="21102320" cy="2877034"/>
          </a:xfrm>
        </p:grpSpPr>
        <p:sp>
          <p:nvSpPr>
            <p:cNvPr id="25" name="Freeform 3"/>
            <p:cNvSpPr/>
            <p:nvPr/>
          </p:nvSpPr>
          <p:spPr>
            <a:xfrm>
              <a:off x="0" y="0"/>
              <a:ext cx="21031200" cy="2651126"/>
            </a:xfrm>
            <a:custGeom>
              <a:avLst/>
              <a:gdLst/>
              <a:ahLst/>
              <a:cxnLst/>
              <a:rect l="l" t="t" r="r" b="b"/>
              <a:pathLst>
                <a:path w="21031200" h="2651126">
                  <a:moveTo>
                    <a:pt x="0" y="0"/>
                  </a:moveTo>
                  <a:lnTo>
                    <a:pt x="21031200" y="0"/>
                  </a:lnTo>
                  <a:lnTo>
                    <a:pt x="21031200" y="2651126"/>
                  </a:lnTo>
                  <a:lnTo>
                    <a:pt x="0" y="2651126"/>
                  </a:lnTo>
                  <a:close/>
                </a:path>
              </a:pathLst>
            </a:custGeom>
            <a:solidFill>
              <a:srgbClr val="000000">
                <a:alpha val="0"/>
              </a:srgbClr>
            </a:solidFill>
          </p:spPr>
          <p:txBody>
            <a:bodyPr/>
            <a:lstStyle/>
            <a:p>
              <a:endParaRPr lang="en-IN"/>
            </a:p>
          </p:txBody>
        </p:sp>
        <p:sp>
          <p:nvSpPr>
            <p:cNvPr id="26" name="TextBox 4"/>
            <p:cNvSpPr txBox="1"/>
            <p:nvPr/>
          </p:nvSpPr>
          <p:spPr>
            <a:xfrm>
              <a:off x="71120" y="-225908"/>
              <a:ext cx="21031200" cy="2708277"/>
            </a:xfrm>
            <a:prstGeom prst="rect">
              <a:avLst/>
            </a:prstGeom>
          </p:spPr>
          <p:txBody>
            <a:bodyPr lIns="0" tIns="0" rIns="0" bIns="0" rtlCol="0" anchor="ctr"/>
            <a:lstStyle/>
            <a:p>
              <a:pPr algn="l">
                <a:lnSpc>
                  <a:spcPts val="7128"/>
                </a:lnSpc>
              </a:pPr>
              <a:r>
                <a:rPr lang="en-US" sz="6600" b="1" dirty="0" smtClean="0">
                  <a:solidFill>
                    <a:srgbClr val="000000"/>
                  </a:solidFill>
                  <a:latin typeface="Times New Roman" panose="02020603050405020304" pitchFamily="18" charset="0"/>
                  <a:ea typeface="Times New Roman Bold"/>
                  <a:cs typeface="Times New Roman Bold"/>
                  <a:sym typeface="Times New Roman Bold"/>
                </a:rPr>
                <a:t>Research Gaps</a:t>
              </a:r>
              <a:endParaRPr lang="en-US" sz="6600" b="1" dirty="0">
                <a:solidFill>
                  <a:srgbClr val="000000"/>
                </a:solidFill>
                <a:latin typeface="Times New Roman" panose="02020603050405020304" pitchFamily="18" charset="0"/>
                <a:ea typeface="Times New Roman Bold"/>
                <a:cs typeface="Times New Roman Bold"/>
                <a:sym typeface="Times New Roman Bold"/>
              </a:endParaRPr>
            </a:p>
          </p:txBody>
        </p:sp>
      </p:grpSp>
      <p:sp>
        <p:nvSpPr>
          <p:cNvPr id="39" name="Freeform 6"/>
          <p:cNvSpPr/>
          <p:nvPr/>
        </p:nvSpPr>
        <p:spPr>
          <a:xfrm>
            <a:off x="6057900" y="9534525"/>
            <a:ext cx="6172200" cy="547688"/>
          </a:xfrm>
          <a:custGeom>
            <a:avLst/>
            <a:gdLst/>
            <a:ahLst/>
            <a:cxnLst/>
            <a:rect l="l" t="t" r="r" b="b"/>
            <a:pathLst>
              <a:path w="8229600" h="730250">
                <a:moveTo>
                  <a:pt x="0" y="0"/>
                </a:moveTo>
                <a:lnTo>
                  <a:pt x="8229600" y="0"/>
                </a:lnTo>
                <a:lnTo>
                  <a:pt x="8229600" y="730250"/>
                </a:lnTo>
                <a:lnTo>
                  <a:pt x="0" y="730250"/>
                </a:lnTo>
                <a:close/>
              </a:path>
            </a:pathLst>
          </a:custGeom>
          <a:solidFill>
            <a:srgbClr val="000000">
              <a:alpha val="0"/>
            </a:srgbClr>
          </a:solidFill>
        </p:spPr>
        <p:txBody>
          <a:bodyPr/>
          <a:lstStyle/>
          <a:p>
            <a:endParaRPr lang="en-IN"/>
          </a:p>
        </p:txBody>
      </p:sp>
      <p:sp>
        <p:nvSpPr>
          <p:cNvPr id="40" name="TextBox 7"/>
          <p:cNvSpPr txBox="1"/>
          <p:nvPr/>
        </p:nvSpPr>
        <p:spPr>
          <a:xfrm>
            <a:off x="6324600" y="9615297"/>
            <a:ext cx="6057900" cy="576263"/>
          </a:xfrm>
          <a:prstGeom prst="rect">
            <a:avLst/>
          </a:prstGeom>
        </p:spPr>
        <p:txBody>
          <a:bodyPr lIns="0" tIns="0" rIns="0" bIns="0" rtlCol="0" anchor="ctr"/>
          <a:lstStyle/>
          <a:p>
            <a:pPr algn="ctr">
              <a:lnSpc>
                <a:spcPts val="2160"/>
              </a:lnSpc>
            </a:pPr>
            <a:r>
              <a:rPr lang="en-US" sz="1800" dirty="0">
                <a:solidFill>
                  <a:srgbClr val="767676"/>
                </a:solidFill>
                <a:latin typeface="Times New Roman"/>
                <a:ea typeface="Times New Roman"/>
                <a:cs typeface="Times New Roman"/>
                <a:sym typeface="Times New Roman"/>
              </a:rPr>
              <a:t>Department of Computer Engineering</a:t>
            </a:r>
          </a:p>
        </p:txBody>
      </p:sp>
      <p:sp>
        <p:nvSpPr>
          <p:cNvPr id="41" name="TextBox 40"/>
          <p:cNvSpPr txBox="1"/>
          <p:nvPr/>
        </p:nvSpPr>
        <p:spPr>
          <a:xfrm>
            <a:off x="1097280" y="2240280"/>
            <a:ext cx="10881360" cy="594360"/>
          </a:xfrm>
          <a:prstGeom prst="rect">
            <a:avLst/>
          </a:prstGeom>
          <a:noFill/>
        </p:spPr>
        <p:txBody>
          <a:bodyPr wrap="square" lIns="0" tIns="0" rIns="0" bIns="0">
            <a:spAutoFit/>
          </a:bodyPr>
          <a:lstStyle/>
          <a:p>
            <a:r>
              <a:rPr sz="3600" b="1">
                <a:solidFill>
                  <a:srgbClr val="000000"/>
                </a:solidFill>
                <a:latin typeface="Trebuchet MS"/>
              </a:rPr>
              <a:t>Where Existing Commercial &amp; Research Systems Fall Short</a:t>
            </a:r>
          </a:p>
        </p:txBody>
      </p:sp>
      <p:sp>
        <p:nvSpPr>
          <p:cNvPr id="42" name="Rounded Rectangle 41"/>
          <p:cNvSpPr/>
          <p:nvPr/>
        </p:nvSpPr>
        <p:spPr>
          <a:xfrm>
            <a:off x="1097280" y="2926080"/>
            <a:ext cx="5120640" cy="1783080"/>
          </a:xfrm>
          <a:prstGeom prst="roundRect">
            <a:avLst/>
          </a:prstGeom>
          <a:solidFill>
            <a:srgbClr val="123524"/>
          </a:solidFill>
          <a:ln w="19050">
            <a:solidFill>
              <a:srgbClr val="264D3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1353312" y="3090672"/>
            <a:ext cx="4608576" cy="1453896"/>
          </a:xfrm>
          <a:prstGeom prst="rect">
            <a:avLst/>
          </a:prstGeom>
          <a:noFill/>
        </p:spPr>
        <p:txBody>
          <a:bodyPr wrap="square" lIns="0" tIns="0" rIns="0" bIns="0">
            <a:spAutoFit/>
          </a:bodyPr>
          <a:lstStyle/>
          <a:p>
            <a:pPr>
              <a:spcAft>
                <a:spcPts val="400"/>
              </a:spcAft>
            </a:pPr>
            <a:r>
              <a:rPr sz="1600" b="1">
                <a:solidFill>
                  <a:srgbClr val="C9FF3F"/>
                </a:solidFill>
                <a:latin typeface="Consolas"/>
              </a:rPr>
              <a:t>01 · HARDWARE DEPENDENCY</a:t>
            </a:r>
          </a:p>
          <a:p>
            <a:r>
              <a:rPr sz="1500">
                <a:solidFill>
                  <a:srgbClr val="F2F0E4"/>
                </a:solidFill>
                <a:latin typeface="Calibri"/>
              </a:rPr>
              <a:t>Current industry gold standards mandate GPS vests or calibrated pan-tilt-zoom camera clusters, creating an entry barrier.</a:t>
            </a:r>
          </a:p>
        </p:txBody>
      </p:sp>
      <p:sp>
        <p:nvSpPr>
          <p:cNvPr id="44" name="Rounded Rectangle 43"/>
          <p:cNvSpPr/>
          <p:nvPr/>
        </p:nvSpPr>
        <p:spPr>
          <a:xfrm>
            <a:off x="6583680" y="2926080"/>
            <a:ext cx="5120640" cy="1783080"/>
          </a:xfrm>
          <a:prstGeom prst="roundRect">
            <a:avLst/>
          </a:prstGeom>
          <a:solidFill>
            <a:srgbClr val="123524"/>
          </a:solidFill>
          <a:ln w="19050">
            <a:solidFill>
              <a:srgbClr val="264D3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6839712" y="3090672"/>
            <a:ext cx="4608576" cy="1453896"/>
          </a:xfrm>
          <a:prstGeom prst="rect">
            <a:avLst/>
          </a:prstGeom>
          <a:noFill/>
        </p:spPr>
        <p:txBody>
          <a:bodyPr wrap="square" lIns="0" tIns="0" rIns="0" bIns="0">
            <a:spAutoFit/>
          </a:bodyPr>
          <a:lstStyle/>
          <a:p>
            <a:pPr>
              <a:spcAft>
                <a:spcPts val="400"/>
              </a:spcAft>
            </a:pPr>
            <a:r>
              <a:rPr sz="1600" b="1">
                <a:solidFill>
                  <a:srgbClr val="C9FF3F"/>
                </a:solidFill>
                <a:latin typeface="Consolas"/>
              </a:rPr>
              <a:t>02 · MANUAL INEFFICIENCY</a:t>
            </a:r>
          </a:p>
          <a:p>
            <a:r>
              <a:rPr sz="1500">
                <a:solidFill>
                  <a:srgbClr val="F2F0E4"/>
                </a:solidFill>
                <a:latin typeface="Calibri"/>
              </a:rPr>
              <a:t>Existing semi-automated tagging workflows still require exhaustive human scrubbing and keyframe corrections.</a:t>
            </a:r>
          </a:p>
        </p:txBody>
      </p:sp>
      <p:sp>
        <p:nvSpPr>
          <p:cNvPr id="46" name="Rounded Rectangle 45"/>
          <p:cNvSpPr/>
          <p:nvPr/>
        </p:nvSpPr>
        <p:spPr>
          <a:xfrm>
            <a:off x="12070080" y="2926080"/>
            <a:ext cx="5120640" cy="1783080"/>
          </a:xfrm>
          <a:prstGeom prst="roundRect">
            <a:avLst/>
          </a:prstGeom>
          <a:solidFill>
            <a:srgbClr val="123524"/>
          </a:solidFill>
          <a:ln w="19050">
            <a:solidFill>
              <a:srgbClr val="264D3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12326112" y="3090672"/>
            <a:ext cx="4608576" cy="1453896"/>
          </a:xfrm>
          <a:prstGeom prst="rect">
            <a:avLst/>
          </a:prstGeom>
          <a:noFill/>
        </p:spPr>
        <p:txBody>
          <a:bodyPr wrap="square" lIns="0" tIns="0" rIns="0" bIns="0">
            <a:spAutoFit/>
          </a:bodyPr>
          <a:lstStyle/>
          <a:p>
            <a:pPr>
              <a:spcAft>
                <a:spcPts val="400"/>
              </a:spcAft>
            </a:pPr>
            <a:r>
              <a:rPr sz="1600" b="1">
                <a:solidFill>
                  <a:srgbClr val="C9FF3F"/>
                </a:solidFill>
                <a:latin typeface="Consolas"/>
              </a:rPr>
              <a:t>03 · BALL TRACK FRAGILITY</a:t>
            </a:r>
          </a:p>
          <a:p>
            <a:r>
              <a:rPr sz="1500">
                <a:solidFill>
                  <a:srgbClr val="F2F0E4"/>
                </a:solidFill>
                <a:latin typeface="Calibri"/>
              </a:rPr>
              <a:t>High speed and camera blur lead to constant ball candidate loss and dropouts across match frames.</a:t>
            </a:r>
          </a:p>
        </p:txBody>
      </p:sp>
      <p:sp>
        <p:nvSpPr>
          <p:cNvPr id="48" name="Rounded Rectangle 47"/>
          <p:cNvSpPr/>
          <p:nvPr/>
        </p:nvSpPr>
        <p:spPr>
          <a:xfrm>
            <a:off x="1097280" y="4937760"/>
            <a:ext cx="5120640" cy="1783080"/>
          </a:xfrm>
          <a:prstGeom prst="roundRect">
            <a:avLst/>
          </a:prstGeom>
          <a:solidFill>
            <a:srgbClr val="123524"/>
          </a:solidFill>
          <a:ln w="19050">
            <a:solidFill>
              <a:srgbClr val="264D3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1353312" y="5102352"/>
            <a:ext cx="4608576" cy="1453896"/>
          </a:xfrm>
          <a:prstGeom prst="rect">
            <a:avLst/>
          </a:prstGeom>
          <a:noFill/>
        </p:spPr>
        <p:txBody>
          <a:bodyPr wrap="square" lIns="0" tIns="0" rIns="0" bIns="0">
            <a:spAutoFit/>
          </a:bodyPr>
          <a:lstStyle/>
          <a:p>
            <a:pPr>
              <a:spcAft>
                <a:spcPts val="400"/>
              </a:spcAft>
            </a:pPr>
            <a:r>
              <a:rPr sz="1600" b="1">
                <a:solidFill>
                  <a:srgbClr val="C9FF3F"/>
                </a:solidFill>
                <a:latin typeface="Consolas"/>
              </a:rPr>
              <a:t>04 · ID SWITCH CONTAMINATION</a:t>
            </a:r>
          </a:p>
          <a:p>
            <a:r>
              <a:rPr sz="1500">
                <a:solidFill>
                  <a:srgbClr val="F2F0E4"/>
                </a:solidFill>
                <a:latin typeface="Calibri"/>
              </a:rPr>
              <a:t>Tracking identity swaps directly corrupt cumulative player sprint distance and velocity calculations.</a:t>
            </a:r>
          </a:p>
        </p:txBody>
      </p:sp>
      <p:sp>
        <p:nvSpPr>
          <p:cNvPr id="50" name="Rounded Rectangle 49"/>
          <p:cNvSpPr/>
          <p:nvPr/>
        </p:nvSpPr>
        <p:spPr>
          <a:xfrm>
            <a:off x="6583680" y="4937760"/>
            <a:ext cx="5120640" cy="1783080"/>
          </a:xfrm>
          <a:prstGeom prst="roundRect">
            <a:avLst/>
          </a:prstGeom>
          <a:solidFill>
            <a:srgbClr val="123524"/>
          </a:solidFill>
          <a:ln w="19050">
            <a:solidFill>
              <a:srgbClr val="264D3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6839712" y="5102352"/>
            <a:ext cx="4608576" cy="1453896"/>
          </a:xfrm>
          <a:prstGeom prst="rect">
            <a:avLst/>
          </a:prstGeom>
          <a:noFill/>
        </p:spPr>
        <p:txBody>
          <a:bodyPr wrap="square" lIns="0" tIns="0" rIns="0" bIns="0">
            <a:spAutoFit/>
          </a:bodyPr>
          <a:lstStyle/>
          <a:p>
            <a:pPr>
              <a:spcAft>
                <a:spcPts val="400"/>
              </a:spcAft>
            </a:pPr>
            <a:r>
              <a:rPr sz="1600" b="1">
                <a:solidFill>
                  <a:srgbClr val="C9FF3F"/>
                </a:solidFill>
                <a:latin typeface="Consolas"/>
              </a:rPr>
              <a:t>05 · AMBIGUOUS KIT COLORS</a:t>
            </a:r>
          </a:p>
          <a:p>
            <a:r>
              <a:rPr sz="1500">
                <a:solidFill>
                  <a:srgbClr val="F2F0E4"/>
                </a:solidFill>
                <a:latin typeface="Calibri"/>
              </a:rPr>
              <a:t>Uniform color clustering fails under harsh shadows; existing tools force binary decisions without an 'Unknown' fallback.</a:t>
            </a:r>
          </a:p>
        </p:txBody>
      </p:sp>
      <p:sp>
        <p:nvSpPr>
          <p:cNvPr id="52" name="Rounded Rectangle 51"/>
          <p:cNvSpPr/>
          <p:nvPr/>
        </p:nvSpPr>
        <p:spPr>
          <a:xfrm>
            <a:off x="12070080" y="4937760"/>
            <a:ext cx="5120640" cy="1783080"/>
          </a:xfrm>
          <a:prstGeom prst="roundRect">
            <a:avLst/>
          </a:prstGeom>
          <a:solidFill>
            <a:srgbClr val="123524"/>
          </a:solidFill>
          <a:ln w="19050">
            <a:solidFill>
              <a:srgbClr val="264D3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12326112" y="5102352"/>
            <a:ext cx="4608576" cy="1453896"/>
          </a:xfrm>
          <a:prstGeom prst="rect">
            <a:avLst/>
          </a:prstGeom>
          <a:noFill/>
        </p:spPr>
        <p:txBody>
          <a:bodyPr wrap="square" lIns="0" tIns="0" rIns="0" bIns="0">
            <a:spAutoFit/>
          </a:bodyPr>
          <a:lstStyle/>
          <a:p>
            <a:pPr>
              <a:spcAft>
                <a:spcPts val="400"/>
              </a:spcAft>
            </a:pPr>
            <a:r>
              <a:rPr sz="1600" b="1">
                <a:solidFill>
                  <a:srgbClr val="C9FF3F"/>
                </a:solidFill>
                <a:latin typeface="Consolas"/>
              </a:rPr>
              <a:t>06 · BROADCAST CALIBRATION</a:t>
            </a:r>
          </a:p>
          <a:p>
            <a:r>
              <a:rPr sz="1500">
                <a:solidFill>
                  <a:srgbClr val="F2F0E4"/>
                </a:solidFill>
                <a:latin typeface="Calibri"/>
              </a:rPr>
              <a:t>Automated field registration models fail on amateur pitch video lacking visible center circles or penalty markings.</a:t>
            </a:r>
          </a:p>
        </p:txBody>
      </p:sp>
      <p:sp>
        <p:nvSpPr>
          <p:cNvPr id="54" name="Rounded Rectangle 53"/>
          <p:cNvSpPr/>
          <p:nvPr/>
        </p:nvSpPr>
        <p:spPr>
          <a:xfrm>
            <a:off x="1097280" y="6949440"/>
            <a:ext cx="5120640" cy="1783080"/>
          </a:xfrm>
          <a:prstGeom prst="roundRect">
            <a:avLst/>
          </a:prstGeom>
          <a:solidFill>
            <a:srgbClr val="123524"/>
          </a:solidFill>
          <a:ln w="19050">
            <a:solidFill>
              <a:srgbClr val="264D3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1353312" y="7114032"/>
            <a:ext cx="4608576" cy="1453896"/>
          </a:xfrm>
          <a:prstGeom prst="rect">
            <a:avLst/>
          </a:prstGeom>
          <a:noFill/>
        </p:spPr>
        <p:txBody>
          <a:bodyPr wrap="square" lIns="0" tIns="0" rIns="0" bIns="0">
            <a:spAutoFit/>
          </a:bodyPr>
          <a:lstStyle/>
          <a:p>
            <a:pPr>
              <a:spcAft>
                <a:spcPts val="400"/>
              </a:spcAft>
            </a:pPr>
            <a:r>
              <a:rPr sz="1600" b="1">
                <a:solidFill>
                  <a:srgbClr val="C9FF3F"/>
                </a:solidFill>
                <a:latin typeface="Consolas"/>
              </a:rPr>
              <a:t>07 · OVERSTATED ANALYTICS</a:t>
            </a:r>
          </a:p>
          <a:p>
            <a:r>
              <a:rPr sz="1500">
                <a:solidFill>
                  <a:srgbClr val="F2F0E4"/>
                </a:solidFill>
                <a:latin typeface="Calibri"/>
              </a:rPr>
              <a:t>Commercial platforms report unverified full-match stats without qualifying occlusion intervals or out-of-frame time.</a:t>
            </a:r>
          </a:p>
        </p:txBody>
      </p:sp>
      <p:sp>
        <p:nvSpPr>
          <p:cNvPr id="56" name="Rounded Rectangle 55"/>
          <p:cNvSpPr/>
          <p:nvPr/>
        </p:nvSpPr>
        <p:spPr>
          <a:xfrm>
            <a:off x="6583680" y="6949440"/>
            <a:ext cx="5120640" cy="1783080"/>
          </a:xfrm>
          <a:prstGeom prst="roundRect">
            <a:avLst/>
          </a:prstGeom>
          <a:solidFill>
            <a:srgbClr val="123524"/>
          </a:solidFill>
          <a:ln w="19050">
            <a:solidFill>
              <a:srgbClr val="264D3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6839712" y="7114032"/>
            <a:ext cx="4608576" cy="1453896"/>
          </a:xfrm>
          <a:prstGeom prst="rect">
            <a:avLst/>
          </a:prstGeom>
          <a:noFill/>
        </p:spPr>
        <p:txBody>
          <a:bodyPr wrap="square" lIns="0" tIns="0" rIns="0" bIns="0">
            <a:spAutoFit/>
          </a:bodyPr>
          <a:lstStyle/>
          <a:p>
            <a:pPr>
              <a:spcAft>
                <a:spcPts val="400"/>
              </a:spcAft>
            </a:pPr>
            <a:r>
              <a:rPr sz="1600" b="1">
                <a:solidFill>
                  <a:srgbClr val="C9FF3F"/>
                </a:solidFill>
                <a:latin typeface="Consolas"/>
              </a:rPr>
              <a:t>08 · POSSESSION FALLBACKS</a:t>
            </a:r>
          </a:p>
          <a:p>
            <a:r>
              <a:rPr sz="1500">
                <a:solidFill>
                  <a:srgbClr val="F2F0E4"/>
                </a:solidFill>
                <a:latin typeface="Calibri"/>
              </a:rPr>
              <a:t>Rigid proximity models fail entirely during sequence gaps where the ball cannot be resolved by standard detectors.</a:t>
            </a:r>
          </a:p>
        </p:txBody>
      </p:sp>
      <p:sp>
        <p:nvSpPr>
          <p:cNvPr id="58" name="Rounded Rectangle 57"/>
          <p:cNvSpPr/>
          <p:nvPr/>
        </p:nvSpPr>
        <p:spPr>
          <a:xfrm>
            <a:off x="12070080" y="6949440"/>
            <a:ext cx="5120640" cy="1783080"/>
          </a:xfrm>
          <a:prstGeom prst="roundRect">
            <a:avLst/>
          </a:prstGeom>
          <a:solidFill>
            <a:srgbClr val="123524"/>
          </a:solidFill>
          <a:ln w="19050">
            <a:solidFill>
              <a:srgbClr val="264D3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12326112" y="7114032"/>
            <a:ext cx="4608576" cy="1453896"/>
          </a:xfrm>
          <a:prstGeom prst="rect">
            <a:avLst/>
          </a:prstGeom>
          <a:noFill/>
        </p:spPr>
        <p:txBody>
          <a:bodyPr wrap="square" lIns="0" tIns="0" rIns="0" bIns="0">
            <a:spAutoFit/>
          </a:bodyPr>
          <a:lstStyle/>
          <a:p>
            <a:pPr>
              <a:spcAft>
                <a:spcPts val="400"/>
              </a:spcAft>
            </a:pPr>
            <a:r>
              <a:rPr sz="1600" b="1">
                <a:solidFill>
                  <a:srgbClr val="C9FF3F"/>
                </a:solidFill>
                <a:latin typeface="Consolas"/>
              </a:rPr>
              <a:t>09 · FRAGMENTED TOOLING</a:t>
            </a:r>
          </a:p>
          <a:p>
            <a:r>
              <a:rPr sz="1500">
                <a:solidFill>
                  <a:srgbClr val="F2F0E4"/>
                </a:solidFill>
                <a:latin typeface="Calibri"/>
              </a:rPr>
              <a:t>Teams must integrate disjointed scripts for video stitching, homography, and tracking instead of using an integrated workflow.</a:t>
            </a:r>
          </a:p>
        </p:txBody>
      </p:sp>
      <p:pic>
        <p:nvPicPr>
          <p:cNvPr id="27" name="Picture 26">
            <a:extLst>
              <a:ext uri="{FF2B5EF4-FFF2-40B4-BE49-F238E27FC236}">
                <a16:creationId xmlns:a16="http://schemas.microsoft.com/office/drawing/2014/main" id="{1F0D420E-600A-B345-3A16-1C23AD860F18}"/>
              </a:ext>
            </a:extLst>
          </p:cNvPr>
          <p:cNvPicPr>
            <a:picLocks noChangeAspect="1"/>
          </p:cNvPicPr>
          <p:nvPr/>
        </p:nvPicPr>
        <p:blipFill>
          <a:blip r:embed="rId2"/>
          <a:stretch>
            <a:fillRect/>
          </a:stretch>
        </p:blipFill>
        <p:spPr>
          <a:xfrm>
            <a:off x="14791195" y="0"/>
            <a:ext cx="3496805" cy="1605366"/>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4" name="Group 2"/>
          <p:cNvGrpSpPr/>
          <p:nvPr/>
        </p:nvGrpSpPr>
        <p:grpSpPr>
          <a:xfrm>
            <a:off x="990600" y="547044"/>
            <a:ext cx="15826740" cy="1574722"/>
            <a:chOff x="0" y="-225908"/>
            <a:chExt cx="21102320" cy="2877034"/>
          </a:xfrm>
        </p:grpSpPr>
        <p:sp>
          <p:nvSpPr>
            <p:cNvPr id="25" name="Freeform 3"/>
            <p:cNvSpPr/>
            <p:nvPr/>
          </p:nvSpPr>
          <p:spPr>
            <a:xfrm>
              <a:off x="0" y="0"/>
              <a:ext cx="21031200" cy="2651126"/>
            </a:xfrm>
            <a:custGeom>
              <a:avLst/>
              <a:gdLst/>
              <a:ahLst/>
              <a:cxnLst/>
              <a:rect l="l" t="t" r="r" b="b"/>
              <a:pathLst>
                <a:path w="21031200" h="2651126">
                  <a:moveTo>
                    <a:pt x="0" y="0"/>
                  </a:moveTo>
                  <a:lnTo>
                    <a:pt x="21031200" y="0"/>
                  </a:lnTo>
                  <a:lnTo>
                    <a:pt x="21031200" y="2651126"/>
                  </a:lnTo>
                  <a:lnTo>
                    <a:pt x="0" y="2651126"/>
                  </a:lnTo>
                  <a:close/>
                </a:path>
              </a:pathLst>
            </a:custGeom>
            <a:solidFill>
              <a:srgbClr val="000000">
                <a:alpha val="0"/>
              </a:srgbClr>
            </a:solidFill>
          </p:spPr>
          <p:txBody>
            <a:bodyPr/>
            <a:lstStyle/>
            <a:p>
              <a:endParaRPr lang="en-IN"/>
            </a:p>
          </p:txBody>
        </p:sp>
        <p:sp>
          <p:nvSpPr>
            <p:cNvPr id="26" name="TextBox 4"/>
            <p:cNvSpPr txBox="1"/>
            <p:nvPr/>
          </p:nvSpPr>
          <p:spPr>
            <a:xfrm>
              <a:off x="71120" y="-225908"/>
              <a:ext cx="21031200" cy="2708277"/>
            </a:xfrm>
            <a:prstGeom prst="rect">
              <a:avLst/>
            </a:prstGeom>
          </p:spPr>
          <p:txBody>
            <a:bodyPr lIns="0" tIns="0" rIns="0" bIns="0" rtlCol="0" anchor="ctr"/>
            <a:lstStyle/>
            <a:p>
              <a:pPr algn="l">
                <a:lnSpc>
                  <a:spcPts val="7128"/>
                </a:lnSpc>
              </a:pPr>
              <a:r>
                <a:rPr lang="en-US" sz="6600" b="1" dirty="0" smtClean="0">
                  <a:solidFill>
                    <a:srgbClr val="000000"/>
                  </a:solidFill>
                  <a:latin typeface="Times New Roman" panose="02020603050405020304" pitchFamily="18" charset="0"/>
                  <a:ea typeface="Times New Roman Bold"/>
                  <a:cs typeface="Times New Roman Bold"/>
                  <a:sym typeface="Times New Roman Bold"/>
                </a:rPr>
                <a:t>Scope of the Project</a:t>
              </a:r>
              <a:endParaRPr lang="en-US" sz="6600" b="1" dirty="0">
                <a:solidFill>
                  <a:srgbClr val="000000"/>
                </a:solidFill>
                <a:latin typeface="Times New Roman" panose="02020603050405020304" pitchFamily="18" charset="0"/>
                <a:ea typeface="Times New Roman Bold"/>
                <a:cs typeface="Times New Roman Bold"/>
                <a:sym typeface="Times New Roman Bold"/>
              </a:endParaRPr>
            </a:p>
          </p:txBody>
        </p:sp>
      </p:grpSp>
      <p:sp>
        <p:nvSpPr>
          <p:cNvPr id="39" name="Freeform 6"/>
          <p:cNvSpPr/>
          <p:nvPr/>
        </p:nvSpPr>
        <p:spPr>
          <a:xfrm>
            <a:off x="6057900" y="9534525"/>
            <a:ext cx="6172200" cy="547688"/>
          </a:xfrm>
          <a:custGeom>
            <a:avLst/>
            <a:gdLst/>
            <a:ahLst/>
            <a:cxnLst/>
            <a:rect l="l" t="t" r="r" b="b"/>
            <a:pathLst>
              <a:path w="8229600" h="730250">
                <a:moveTo>
                  <a:pt x="0" y="0"/>
                </a:moveTo>
                <a:lnTo>
                  <a:pt x="8229600" y="0"/>
                </a:lnTo>
                <a:lnTo>
                  <a:pt x="8229600" y="730250"/>
                </a:lnTo>
                <a:lnTo>
                  <a:pt x="0" y="730250"/>
                </a:lnTo>
                <a:close/>
              </a:path>
            </a:pathLst>
          </a:custGeom>
          <a:solidFill>
            <a:srgbClr val="000000">
              <a:alpha val="0"/>
            </a:srgbClr>
          </a:solidFill>
        </p:spPr>
        <p:txBody>
          <a:bodyPr/>
          <a:lstStyle/>
          <a:p>
            <a:endParaRPr lang="en-IN"/>
          </a:p>
        </p:txBody>
      </p:sp>
      <p:sp>
        <p:nvSpPr>
          <p:cNvPr id="40" name="TextBox 7"/>
          <p:cNvSpPr txBox="1"/>
          <p:nvPr/>
        </p:nvSpPr>
        <p:spPr>
          <a:xfrm>
            <a:off x="6324600" y="9615297"/>
            <a:ext cx="6057900" cy="576263"/>
          </a:xfrm>
          <a:prstGeom prst="rect">
            <a:avLst/>
          </a:prstGeom>
        </p:spPr>
        <p:txBody>
          <a:bodyPr lIns="0" tIns="0" rIns="0" bIns="0" rtlCol="0" anchor="ctr"/>
          <a:lstStyle/>
          <a:p>
            <a:pPr algn="ctr">
              <a:lnSpc>
                <a:spcPts val="2160"/>
              </a:lnSpc>
            </a:pPr>
            <a:r>
              <a:rPr lang="en-US" sz="1800" dirty="0">
                <a:solidFill>
                  <a:srgbClr val="767676"/>
                </a:solidFill>
                <a:latin typeface="Times New Roman"/>
                <a:ea typeface="Times New Roman"/>
                <a:cs typeface="Times New Roman"/>
                <a:sym typeface="Times New Roman"/>
              </a:rPr>
              <a:t>Department of Computer Engineering</a:t>
            </a:r>
          </a:p>
        </p:txBody>
      </p:sp>
      <p:sp>
        <p:nvSpPr>
          <p:cNvPr id="41" name="TextBox 40"/>
          <p:cNvSpPr txBox="1"/>
          <p:nvPr/>
        </p:nvSpPr>
        <p:spPr>
          <a:xfrm>
            <a:off x="1097280" y="2240280"/>
            <a:ext cx="11704320" cy="553998"/>
          </a:xfrm>
          <a:prstGeom prst="rect">
            <a:avLst/>
          </a:prstGeom>
          <a:noFill/>
        </p:spPr>
        <p:txBody>
          <a:bodyPr wrap="square" lIns="0" tIns="0" rIns="0" bIns="0">
            <a:spAutoFit/>
          </a:bodyPr>
          <a:lstStyle/>
          <a:p>
            <a:r>
              <a:rPr sz="3600" b="1" dirty="0">
                <a:solidFill>
                  <a:srgbClr val="000000"/>
                </a:solidFill>
                <a:latin typeface="Trebuchet MS"/>
              </a:rPr>
              <a:t>Defining Clear Operational Boundaries for </a:t>
            </a:r>
            <a:r>
              <a:rPr sz="3600" b="1" dirty="0" err="1">
                <a:solidFill>
                  <a:srgbClr val="000000"/>
                </a:solidFill>
                <a:latin typeface="Trebuchet MS"/>
              </a:rPr>
              <a:t>FootballIQ</a:t>
            </a:r>
            <a:endParaRPr sz="3600" b="1" dirty="0">
              <a:solidFill>
                <a:srgbClr val="000000"/>
              </a:solidFill>
              <a:latin typeface="Trebuchet MS"/>
            </a:endParaRPr>
          </a:p>
        </p:txBody>
      </p:sp>
      <p:sp>
        <p:nvSpPr>
          <p:cNvPr id="42" name="Rounded Rectangle 41"/>
          <p:cNvSpPr/>
          <p:nvPr/>
        </p:nvSpPr>
        <p:spPr>
          <a:xfrm>
            <a:off x="1097280" y="2926080"/>
            <a:ext cx="7863840" cy="5943600"/>
          </a:xfrm>
          <a:prstGeom prst="roundRect">
            <a:avLst/>
          </a:prstGeom>
          <a:solidFill>
            <a:srgbClr val="123524"/>
          </a:solidFill>
          <a:ln w="19050">
            <a:solidFill>
              <a:srgbClr val="264D3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1554480" y="3291840"/>
            <a:ext cx="6949440" cy="5212080"/>
          </a:xfrm>
          <a:prstGeom prst="rect">
            <a:avLst/>
          </a:prstGeom>
          <a:noFill/>
        </p:spPr>
        <p:txBody>
          <a:bodyPr wrap="square" lIns="0" tIns="0" rIns="0" bIns="0">
            <a:spAutoFit/>
          </a:bodyPr>
          <a:lstStyle/>
          <a:p>
            <a:pPr>
              <a:spcAft>
                <a:spcPts val="1800"/>
              </a:spcAft>
            </a:pPr>
            <a:r>
              <a:rPr sz="2800" b="1">
                <a:solidFill>
                  <a:srgbClr val="C9FF3F"/>
                </a:solidFill>
                <a:latin typeface="Consolas"/>
              </a:rPr>
              <a:t>IN SCOPE</a:t>
            </a:r>
          </a:p>
          <a:p>
            <a:pPr>
              <a:spcAft>
                <a:spcPts val="1200"/>
              </a:spcAft>
            </a:pPr>
            <a:r>
              <a:rPr sz="2100" b="1">
                <a:solidFill>
                  <a:srgbClr val="C9FF3F"/>
                </a:solidFill>
                <a:latin typeface="Calibri"/>
              </a:rPr>
              <a:t>✓  </a:t>
            </a:r>
            <a:r>
              <a:rPr sz="2000">
                <a:solidFill>
                  <a:srgbClr val="F2F0E4"/>
                </a:solidFill>
                <a:latin typeface="Calibri"/>
              </a:rPr>
              <a:t>Offline analysis of pre-recorded standard MP4 video clips</a:t>
            </a:r>
          </a:p>
          <a:p>
            <a:pPr>
              <a:spcAft>
                <a:spcPts val="1200"/>
              </a:spcAft>
            </a:pPr>
            <a:r>
              <a:rPr sz="2100" b="1">
                <a:solidFill>
                  <a:srgbClr val="C9FF3F"/>
                </a:solidFill>
                <a:latin typeface="Calibri"/>
              </a:rPr>
              <a:t>✓  </a:t>
            </a:r>
            <a:r>
              <a:rPr sz="2000">
                <a:solidFill>
                  <a:srgbClr val="F2F0E4"/>
                </a:solidFill>
                <a:latin typeface="Calibri"/>
              </a:rPr>
              <a:t>Player detection, bounding boxes, and multi-object tracking</a:t>
            </a:r>
          </a:p>
          <a:p>
            <a:pPr>
              <a:spcAft>
                <a:spcPts val="1200"/>
              </a:spcAft>
            </a:pPr>
            <a:r>
              <a:rPr sz="2100" b="1">
                <a:solidFill>
                  <a:srgbClr val="C9FF3F"/>
                </a:solidFill>
                <a:latin typeface="Calibri"/>
              </a:rPr>
              <a:t>✓  </a:t>
            </a:r>
            <a:r>
              <a:rPr sz="2000">
                <a:solidFill>
                  <a:srgbClr val="F2F0E4"/>
                </a:solidFill>
                <a:latin typeface="Calibri"/>
              </a:rPr>
              <a:t>Jersey reference-based team classification (Team A, Team B, Unknown)</a:t>
            </a:r>
          </a:p>
          <a:p>
            <a:pPr>
              <a:spcAft>
                <a:spcPts val="1200"/>
              </a:spcAft>
            </a:pPr>
            <a:r>
              <a:rPr sz="2100" b="1">
                <a:solidFill>
                  <a:srgbClr val="C9FF3F"/>
                </a:solidFill>
                <a:latin typeface="Calibri"/>
              </a:rPr>
              <a:t>✓  </a:t>
            </a:r>
            <a:r>
              <a:rPr sz="2000">
                <a:solidFill>
                  <a:srgbClr val="F2F0E4"/>
                </a:solidFill>
                <a:latin typeface="Calibri"/>
              </a:rPr>
              <a:t>User landmark-assisted homography to standard pitch geometry (105m × 68m)</a:t>
            </a:r>
          </a:p>
          <a:p>
            <a:pPr>
              <a:spcAft>
                <a:spcPts val="1200"/>
              </a:spcAft>
            </a:pPr>
            <a:r>
              <a:rPr sz="2100" b="1">
                <a:solidFill>
                  <a:srgbClr val="C9FF3F"/>
                </a:solidFill>
                <a:latin typeface="Calibri"/>
              </a:rPr>
              <a:t>✓  </a:t>
            </a:r>
            <a:r>
              <a:rPr sz="2000">
                <a:solidFill>
                  <a:srgbClr val="F2F0E4"/>
                </a:solidFill>
                <a:latin typeface="Calibri"/>
              </a:rPr>
              <a:t>Tactical metric derivation: cumulative distance, speed, and spatial heatmaps</a:t>
            </a:r>
          </a:p>
          <a:p>
            <a:pPr>
              <a:spcAft>
                <a:spcPts val="1200"/>
              </a:spcAft>
            </a:pPr>
            <a:r>
              <a:rPr sz="2100" b="1">
                <a:solidFill>
                  <a:srgbClr val="C9FF3F"/>
                </a:solidFill>
                <a:latin typeface="Calibri"/>
              </a:rPr>
              <a:t>✓  </a:t>
            </a:r>
            <a:r>
              <a:rPr sz="2000">
                <a:solidFill>
                  <a:srgbClr val="F2F0E4"/>
                </a:solidFill>
                <a:latin typeface="Calibri"/>
              </a:rPr>
              <a:t>Experimental ball verification &amp; proximity-based possession share</a:t>
            </a:r>
          </a:p>
          <a:p>
            <a:pPr>
              <a:spcAft>
                <a:spcPts val="1200"/>
              </a:spcAft>
            </a:pPr>
            <a:r>
              <a:rPr sz="2100" b="1">
                <a:solidFill>
                  <a:srgbClr val="C9FF3F"/>
                </a:solidFill>
                <a:latin typeface="Calibri"/>
              </a:rPr>
              <a:t>✓  </a:t>
            </a:r>
            <a:r>
              <a:rPr sz="2000">
                <a:solidFill>
                  <a:srgbClr val="F2F0E4"/>
                </a:solidFill>
                <a:latin typeface="Calibri"/>
              </a:rPr>
              <a:t>Synchronized multi-view video render and local web UI (Flask)</a:t>
            </a:r>
          </a:p>
        </p:txBody>
      </p:sp>
      <p:sp>
        <p:nvSpPr>
          <p:cNvPr id="44" name="Rounded Rectangle 43"/>
          <p:cNvSpPr/>
          <p:nvPr/>
        </p:nvSpPr>
        <p:spPr>
          <a:xfrm>
            <a:off x="9326880" y="2926080"/>
            <a:ext cx="7863840" cy="5943600"/>
          </a:xfrm>
          <a:prstGeom prst="roundRect">
            <a:avLst/>
          </a:prstGeom>
          <a:solidFill>
            <a:srgbClr val="123524"/>
          </a:solidFill>
          <a:ln w="19050">
            <a:solidFill>
              <a:srgbClr val="264D3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9784080" y="3291840"/>
            <a:ext cx="6949440" cy="5212080"/>
          </a:xfrm>
          <a:prstGeom prst="rect">
            <a:avLst/>
          </a:prstGeom>
          <a:noFill/>
        </p:spPr>
        <p:txBody>
          <a:bodyPr wrap="square" lIns="0" tIns="0" rIns="0" bIns="0">
            <a:spAutoFit/>
          </a:bodyPr>
          <a:lstStyle/>
          <a:p>
            <a:pPr>
              <a:spcAft>
                <a:spcPts val="1800"/>
              </a:spcAft>
            </a:pPr>
            <a:r>
              <a:rPr sz="2800" b="1">
                <a:solidFill>
                  <a:srgbClr val="FF7878"/>
                </a:solidFill>
                <a:latin typeface="Consolas"/>
              </a:rPr>
              <a:t>OUT OF SCOPE</a:t>
            </a:r>
          </a:p>
          <a:p>
            <a:pPr>
              <a:spcAft>
                <a:spcPts val="1400"/>
              </a:spcAft>
            </a:pPr>
            <a:r>
              <a:rPr sz="2100" b="1">
                <a:solidFill>
                  <a:srgbClr val="FF7878"/>
                </a:solidFill>
                <a:latin typeface="Calibri"/>
              </a:rPr>
              <a:t>✕  </a:t>
            </a:r>
            <a:r>
              <a:rPr sz="2000">
                <a:solidFill>
                  <a:srgbClr val="F2F0E4"/>
                </a:solidFill>
                <a:latin typeface="Calibri"/>
              </a:rPr>
              <a:t>Real-time live stream RTSP broadcast processing on standard hardware</a:t>
            </a:r>
          </a:p>
          <a:p>
            <a:pPr>
              <a:spcAft>
                <a:spcPts val="1400"/>
              </a:spcAft>
            </a:pPr>
            <a:r>
              <a:rPr sz="2100" b="1">
                <a:solidFill>
                  <a:srgbClr val="FF7878"/>
                </a:solidFill>
                <a:latin typeface="Calibri"/>
              </a:rPr>
              <a:t>✕  </a:t>
            </a:r>
            <a:r>
              <a:rPr sz="2000">
                <a:solidFill>
                  <a:srgbClr val="F2F0E4"/>
                </a:solidFill>
                <a:latin typeface="Calibri"/>
              </a:rPr>
              <a:t>Complex user role authentication or multi-tenant database systems</a:t>
            </a:r>
          </a:p>
          <a:p>
            <a:pPr>
              <a:spcAft>
                <a:spcPts val="1400"/>
              </a:spcAft>
            </a:pPr>
            <a:r>
              <a:rPr sz="2100" b="1">
                <a:solidFill>
                  <a:srgbClr val="FF7878"/>
                </a:solidFill>
                <a:latin typeface="Calibri"/>
              </a:rPr>
              <a:t>✕  </a:t>
            </a:r>
            <a:r>
              <a:rPr sz="2000">
                <a:solidFill>
                  <a:srgbClr val="F2F0E4"/>
                </a:solidFill>
                <a:latin typeface="Calibri"/>
              </a:rPr>
              <a:t>Full 90-minute endurance tracking across extreme panoramic sweeps</a:t>
            </a:r>
          </a:p>
          <a:p>
            <a:pPr>
              <a:spcAft>
                <a:spcPts val="1400"/>
              </a:spcAft>
            </a:pPr>
            <a:r>
              <a:rPr sz="2100" b="1">
                <a:solidFill>
                  <a:srgbClr val="FF7878"/>
                </a:solidFill>
                <a:latin typeface="Calibri"/>
              </a:rPr>
              <a:t>✕  </a:t>
            </a:r>
            <a:r>
              <a:rPr sz="2000">
                <a:solidFill>
                  <a:srgbClr val="F2F0E4"/>
                </a:solidFill>
                <a:latin typeface="Calibri"/>
              </a:rPr>
              <a:t>Official federation-grade certification or betting-grade metric validation</a:t>
            </a:r>
          </a:p>
          <a:p>
            <a:pPr>
              <a:spcAft>
                <a:spcPts val="1400"/>
              </a:spcAft>
            </a:pPr>
            <a:r>
              <a:rPr sz="2100" b="1">
                <a:solidFill>
                  <a:srgbClr val="FF7878"/>
                </a:solidFill>
                <a:latin typeface="Calibri"/>
              </a:rPr>
              <a:t>✕  </a:t>
            </a:r>
            <a:r>
              <a:rPr sz="2000">
                <a:solidFill>
                  <a:srgbClr val="F2F0E4"/>
                </a:solidFill>
                <a:latin typeface="Calibri"/>
              </a:rPr>
              <a:t>Autonomous drone tracking or multi-sensor GPS fusion hardware</a:t>
            </a:r>
          </a:p>
          <a:p>
            <a:pPr>
              <a:spcAft>
                <a:spcPts val="1400"/>
              </a:spcAft>
            </a:pPr>
            <a:r>
              <a:rPr sz="2100" b="1">
                <a:solidFill>
                  <a:srgbClr val="FF7878"/>
                </a:solidFill>
                <a:latin typeface="Calibri"/>
              </a:rPr>
              <a:t>✕  </a:t>
            </a:r>
            <a:r>
              <a:rPr sz="2000">
                <a:solidFill>
                  <a:srgbClr val="F2F0E4"/>
                </a:solidFill>
                <a:latin typeface="Calibri"/>
              </a:rPr>
              <a:t>Advanced tactical semantics (e.g., automated offside lines, VAR decision modeling)</a:t>
            </a:r>
          </a:p>
        </p:txBody>
      </p:sp>
      <p:pic>
        <p:nvPicPr>
          <p:cNvPr id="13" name="Picture 12">
            <a:extLst>
              <a:ext uri="{FF2B5EF4-FFF2-40B4-BE49-F238E27FC236}">
                <a16:creationId xmlns:a16="http://schemas.microsoft.com/office/drawing/2014/main" id="{1F0D420E-600A-B345-3A16-1C23AD860F18}"/>
              </a:ext>
            </a:extLst>
          </p:cNvPr>
          <p:cNvPicPr>
            <a:picLocks noChangeAspect="1"/>
          </p:cNvPicPr>
          <p:nvPr/>
        </p:nvPicPr>
        <p:blipFill>
          <a:blip r:embed="rId2"/>
          <a:stretch>
            <a:fillRect/>
          </a:stretch>
        </p:blipFill>
        <p:spPr>
          <a:xfrm>
            <a:off x="14791195" y="20232"/>
            <a:ext cx="3496805" cy="1605366"/>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4" name="Group 2"/>
          <p:cNvGrpSpPr/>
          <p:nvPr/>
        </p:nvGrpSpPr>
        <p:grpSpPr>
          <a:xfrm>
            <a:off x="990600" y="547044"/>
            <a:ext cx="15826740" cy="1574722"/>
            <a:chOff x="0" y="-225908"/>
            <a:chExt cx="21102320" cy="2877034"/>
          </a:xfrm>
        </p:grpSpPr>
        <p:sp>
          <p:nvSpPr>
            <p:cNvPr id="25" name="Freeform 3"/>
            <p:cNvSpPr/>
            <p:nvPr/>
          </p:nvSpPr>
          <p:spPr>
            <a:xfrm>
              <a:off x="0" y="0"/>
              <a:ext cx="21031200" cy="2651126"/>
            </a:xfrm>
            <a:custGeom>
              <a:avLst/>
              <a:gdLst/>
              <a:ahLst/>
              <a:cxnLst/>
              <a:rect l="l" t="t" r="r" b="b"/>
              <a:pathLst>
                <a:path w="21031200" h="2651126">
                  <a:moveTo>
                    <a:pt x="0" y="0"/>
                  </a:moveTo>
                  <a:lnTo>
                    <a:pt x="21031200" y="0"/>
                  </a:lnTo>
                  <a:lnTo>
                    <a:pt x="21031200" y="2651126"/>
                  </a:lnTo>
                  <a:lnTo>
                    <a:pt x="0" y="2651126"/>
                  </a:lnTo>
                  <a:close/>
                </a:path>
              </a:pathLst>
            </a:custGeom>
            <a:solidFill>
              <a:srgbClr val="000000">
                <a:alpha val="0"/>
              </a:srgbClr>
            </a:solidFill>
          </p:spPr>
          <p:txBody>
            <a:bodyPr/>
            <a:lstStyle/>
            <a:p>
              <a:endParaRPr lang="en-IN"/>
            </a:p>
          </p:txBody>
        </p:sp>
        <p:sp>
          <p:nvSpPr>
            <p:cNvPr id="26" name="TextBox 4"/>
            <p:cNvSpPr txBox="1"/>
            <p:nvPr/>
          </p:nvSpPr>
          <p:spPr>
            <a:xfrm>
              <a:off x="71120" y="-225908"/>
              <a:ext cx="21031200" cy="2708277"/>
            </a:xfrm>
            <a:prstGeom prst="rect">
              <a:avLst/>
            </a:prstGeom>
          </p:spPr>
          <p:txBody>
            <a:bodyPr lIns="0" tIns="0" rIns="0" bIns="0" rtlCol="0" anchor="ctr"/>
            <a:lstStyle/>
            <a:p>
              <a:pPr algn="l">
                <a:lnSpc>
                  <a:spcPts val="7128"/>
                </a:lnSpc>
              </a:pPr>
              <a:r>
                <a:rPr lang="en-US" sz="6600" b="1" dirty="0" smtClean="0">
                  <a:solidFill>
                    <a:srgbClr val="000000"/>
                  </a:solidFill>
                  <a:latin typeface="Times New Roman" panose="02020603050405020304" pitchFamily="18" charset="0"/>
                  <a:ea typeface="Times New Roman Bold"/>
                  <a:cs typeface="Times New Roman Bold"/>
                  <a:sym typeface="Times New Roman Bold"/>
                </a:rPr>
                <a:t>Proposed Methodology</a:t>
              </a:r>
              <a:endParaRPr lang="en-US" sz="6600" b="1" dirty="0">
                <a:solidFill>
                  <a:srgbClr val="000000"/>
                </a:solidFill>
                <a:latin typeface="Times New Roman" panose="02020603050405020304" pitchFamily="18" charset="0"/>
                <a:ea typeface="Times New Roman Bold"/>
                <a:cs typeface="Times New Roman Bold"/>
                <a:sym typeface="Times New Roman Bold"/>
              </a:endParaRPr>
            </a:p>
          </p:txBody>
        </p:sp>
      </p:grpSp>
      <p:sp>
        <p:nvSpPr>
          <p:cNvPr id="39" name="Freeform 6"/>
          <p:cNvSpPr/>
          <p:nvPr/>
        </p:nvSpPr>
        <p:spPr>
          <a:xfrm>
            <a:off x="6057900" y="9534525"/>
            <a:ext cx="6172200" cy="547688"/>
          </a:xfrm>
          <a:custGeom>
            <a:avLst/>
            <a:gdLst/>
            <a:ahLst/>
            <a:cxnLst/>
            <a:rect l="l" t="t" r="r" b="b"/>
            <a:pathLst>
              <a:path w="8229600" h="730250">
                <a:moveTo>
                  <a:pt x="0" y="0"/>
                </a:moveTo>
                <a:lnTo>
                  <a:pt x="8229600" y="0"/>
                </a:lnTo>
                <a:lnTo>
                  <a:pt x="8229600" y="730250"/>
                </a:lnTo>
                <a:lnTo>
                  <a:pt x="0" y="730250"/>
                </a:lnTo>
                <a:close/>
              </a:path>
            </a:pathLst>
          </a:custGeom>
          <a:solidFill>
            <a:srgbClr val="000000">
              <a:alpha val="0"/>
            </a:srgbClr>
          </a:solidFill>
        </p:spPr>
        <p:txBody>
          <a:bodyPr/>
          <a:lstStyle/>
          <a:p>
            <a:endParaRPr lang="en-IN"/>
          </a:p>
        </p:txBody>
      </p:sp>
      <p:sp>
        <p:nvSpPr>
          <p:cNvPr id="40" name="TextBox 7"/>
          <p:cNvSpPr txBox="1"/>
          <p:nvPr/>
        </p:nvSpPr>
        <p:spPr>
          <a:xfrm>
            <a:off x="6324600" y="9615297"/>
            <a:ext cx="6057900" cy="576263"/>
          </a:xfrm>
          <a:prstGeom prst="rect">
            <a:avLst/>
          </a:prstGeom>
        </p:spPr>
        <p:txBody>
          <a:bodyPr lIns="0" tIns="0" rIns="0" bIns="0" rtlCol="0" anchor="ctr"/>
          <a:lstStyle/>
          <a:p>
            <a:pPr algn="ctr">
              <a:lnSpc>
                <a:spcPts val="2160"/>
              </a:lnSpc>
            </a:pPr>
            <a:r>
              <a:rPr lang="en-US" sz="1800" dirty="0">
                <a:solidFill>
                  <a:srgbClr val="767676"/>
                </a:solidFill>
                <a:latin typeface="Times New Roman"/>
                <a:ea typeface="Times New Roman"/>
                <a:cs typeface="Times New Roman"/>
                <a:sym typeface="Times New Roman"/>
              </a:rPr>
              <a:t>Department of Computer Engineering</a:t>
            </a:r>
          </a:p>
        </p:txBody>
      </p:sp>
      <p:sp>
        <p:nvSpPr>
          <p:cNvPr id="41" name="TextBox 40"/>
          <p:cNvSpPr txBox="1"/>
          <p:nvPr/>
        </p:nvSpPr>
        <p:spPr>
          <a:xfrm>
            <a:off x="1043940" y="2251301"/>
            <a:ext cx="12847320" cy="553998"/>
          </a:xfrm>
          <a:prstGeom prst="rect">
            <a:avLst/>
          </a:prstGeom>
          <a:noFill/>
        </p:spPr>
        <p:txBody>
          <a:bodyPr wrap="square" lIns="0" tIns="0" rIns="0" bIns="0">
            <a:spAutoFit/>
          </a:bodyPr>
          <a:lstStyle/>
          <a:p>
            <a:r>
              <a:rPr sz="3600" b="1" dirty="0">
                <a:solidFill>
                  <a:srgbClr val="000000"/>
                </a:solidFill>
                <a:latin typeface="Trebuchet MS"/>
              </a:rPr>
              <a:t>Eight-Stage Modular Computer Vision &amp; Tracking Pipeline</a:t>
            </a:r>
          </a:p>
        </p:txBody>
      </p:sp>
      <p:sp>
        <p:nvSpPr>
          <p:cNvPr id="42" name="Rounded Rectangle 41"/>
          <p:cNvSpPr/>
          <p:nvPr/>
        </p:nvSpPr>
        <p:spPr>
          <a:xfrm>
            <a:off x="1097280" y="2926080"/>
            <a:ext cx="3794760" cy="2971800"/>
          </a:xfrm>
          <a:prstGeom prst="roundRect">
            <a:avLst/>
          </a:prstGeom>
          <a:solidFill>
            <a:srgbClr val="123524"/>
          </a:solidFill>
          <a:ln w="19050">
            <a:solidFill>
              <a:srgbClr val="264D3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1371600" y="3154680"/>
            <a:ext cx="3246120" cy="2514600"/>
          </a:xfrm>
          <a:prstGeom prst="rect">
            <a:avLst/>
          </a:prstGeom>
          <a:noFill/>
        </p:spPr>
        <p:txBody>
          <a:bodyPr wrap="square" lIns="0" tIns="0" rIns="0" bIns="0">
            <a:spAutoFit/>
          </a:bodyPr>
          <a:lstStyle/>
          <a:p>
            <a:pPr>
              <a:spcAft>
                <a:spcPts val="600"/>
              </a:spcAft>
            </a:pPr>
            <a:r>
              <a:rPr sz="2200" b="1">
                <a:solidFill>
                  <a:srgbClr val="C9FF3F"/>
                </a:solidFill>
                <a:latin typeface="Consolas"/>
              </a:rPr>
              <a:t>STAGE 01</a:t>
            </a:r>
          </a:p>
          <a:p>
            <a:pPr>
              <a:spcAft>
                <a:spcPts val="800"/>
              </a:spcAft>
            </a:pPr>
            <a:r>
              <a:rPr sz="2000" b="1">
                <a:solidFill>
                  <a:srgbClr val="F2F0E4"/>
                </a:solidFill>
                <a:latin typeface="Trebuchet MS"/>
              </a:rPr>
              <a:t>Reference Capture</a:t>
            </a:r>
          </a:p>
          <a:p>
            <a:r>
              <a:rPr sz="1500">
                <a:solidFill>
                  <a:srgbClr val="9FB8A8"/>
                </a:solidFill>
                <a:latin typeface="Calibri"/>
              </a:rPr>
              <a:t>Select 3 crops for Team A, 3 for Team B, and candidate ball templates for baseline appearance.</a:t>
            </a:r>
          </a:p>
        </p:txBody>
      </p:sp>
      <p:sp>
        <p:nvSpPr>
          <p:cNvPr id="44" name="Rounded Rectangle 43"/>
          <p:cNvSpPr/>
          <p:nvPr/>
        </p:nvSpPr>
        <p:spPr>
          <a:xfrm>
            <a:off x="5212080" y="2926080"/>
            <a:ext cx="3794760" cy="2971800"/>
          </a:xfrm>
          <a:prstGeom prst="roundRect">
            <a:avLst/>
          </a:prstGeom>
          <a:solidFill>
            <a:srgbClr val="123524"/>
          </a:solidFill>
          <a:ln w="19050">
            <a:solidFill>
              <a:srgbClr val="264D3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5486400" y="3154680"/>
            <a:ext cx="3246120" cy="2514600"/>
          </a:xfrm>
          <a:prstGeom prst="rect">
            <a:avLst/>
          </a:prstGeom>
          <a:noFill/>
        </p:spPr>
        <p:txBody>
          <a:bodyPr wrap="square" lIns="0" tIns="0" rIns="0" bIns="0">
            <a:spAutoFit/>
          </a:bodyPr>
          <a:lstStyle/>
          <a:p>
            <a:pPr>
              <a:spcAft>
                <a:spcPts val="600"/>
              </a:spcAft>
            </a:pPr>
            <a:r>
              <a:rPr sz="2200" b="1">
                <a:solidFill>
                  <a:srgbClr val="C9FF3F"/>
                </a:solidFill>
                <a:latin typeface="Consolas"/>
              </a:rPr>
              <a:t>STAGE 02</a:t>
            </a:r>
          </a:p>
          <a:p>
            <a:pPr>
              <a:spcAft>
                <a:spcPts val="800"/>
              </a:spcAft>
            </a:pPr>
            <a:r>
              <a:rPr sz="2000" b="1">
                <a:solidFill>
                  <a:srgbClr val="F2F0E4"/>
                </a:solidFill>
                <a:latin typeface="Trebuchet MS"/>
              </a:rPr>
              <a:t>Detection &amp; Tracking</a:t>
            </a:r>
          </a:p>
          <a:p>
            <a:r>
              <a:rPr sz="1500">
                <a:solidFill>
                  <a:srgbClr val="9FB8A8"/>
                </a:solidFill>
                <a:latin typeface="Calibri"/>
              </a:rPr>
              <a:t>YOLO predicts bounding boxes; ByteTrack assigns trajectories. Foot center defines pitch contact.</a:t>
            </a:r>
          </a:p>
        </p:txBody>
      </p:sp>
      <p:sp>
        <p:nvSpPr>
          <p:cNvPr id="46" name="Rounded Rectangle 45"/>
          <p:cNvSpPr/>
          <p:nvPr/>
        </p:nvSpPr>
        <p:spPr>
          <a:xfrm>
            <a:off x="9326880" y="2926080"/>
            <a:ext cx="3794760" cy="2971800"/>
          </a:xfrm>
          <a:prstGeom prst="roundRect">
            <a:avLst/>
          </a:prstGeom>
          <a:solidFill>
            <a:srgbClr val="123524"/>
          </a:solidFill>
          <a:ln w="19050">
            <a:solidFill>
              <a:srgbClr val="264D3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9601200" y="3154680"/>
            <a:ext cx="3246120" cy="2514600"/>
          </a:xfrm>
          <a:prstGeom prst="rect">
            <a:avLst/>
          </a:prstGeom>
          <a:noFill/>
        </p:spPr>
        <p:txBody>
          <a:bodyPr wrap="square" lIns="0" tIns="0" rIns="0" bIns="0">
            <a:spAutoFit/>
          </a:bodyPr>
          <a:lstStyle/>
          <a:p>
            <a:pPr>
              <a:spcAft>
                <a:spcPts val="600"/>
              </a:spcAft>
            </a:pPr>
            <a:r>
              <a:rPr sz="2200" b="1">
                <a:solidFill>
                  <a:srgbClr val="C9FF3F"/>
                </a:solidFill>
                <a:latin typeface="Consolas"/>
              </a:rPr>
              <a:t>STAGE 03</a:t>
            </a:r>
          </a:p>
          <a:p>
            <a:pPr>
              <a:spcAft>
                <a:spcPts val="800"/>
              </a:spcAft>
            </a:pPr>
            <a:r>
              <a:rPr sz="2000" b="1">
                <a:solidFill>
                  <a:srgbClr val="F2F0E4"/>
                </a:solidFill>
                <a:latin typeface="Trebuchet MS"/>
              </a:rPr>
              <a:t>Team Classification</a:t>
            </a:r>
          </a:p>
          <a:p>
            <a:r>
              <a:rPr sz="1500">
                <a:solidFill>
                  <a:srgbClr val="9FB8A8"/>
                </a:solidFill>
                <a:latin typeface="Calibri"/>
              </a:rPr>
              <a:t>Confidence-weighted voting across rolling trajectory frames. Weak classification yields 'Unknown' tag.</a:t>
            </a:r>
          </a:p>
        </p:txBody>
      </p:sp>
      <p:sp>
        <p:nvSpPr>
          <p:cNvPr id="48" name="Rounded Rectangle 47"/>
          <p:cNvSpPr/>
          <p:nvPr/>
        </p:nvSpPr>
        <p:spPr>
          <a:xfrm>
            <a:off x="13441680" y="2926080"/>
            <a:ext cx="3794760" cy="2971800"/>
          </a:xfrm>
          <a:prstGeom prst="roundRect">
            <a:avLst/>
          </a:prstGeom>
          <a:solidFill>
            <a:srgbClr val="123524"/>
          </a:solidFill>
          <a:ln w="19050">
            <a:solidFill>
              <a:srgbClr val="264D3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13716000" y="3154680"/>
            <a:ext cx="3246120" cy="2514600"/>
          </a:xfrm>
          <a:prstGeom prst="rect">
            <a:avLst/>
          </a:prstGeom>
          <a:noFill/>
        </p:spPr>
        <p:txBody>
          <a:bodyPr wrap="square" lIns="0" tIns="0" rIns="0" bIns="0">
            <a:spAutoFit/>
          </a:bodyPr>
          <a:lstStyle/>
          <a:p>
            <a:pPr>
              <a:spcAft>
                <a:spcPts val="600"/>
              </a:spcAft>
            </a:pPr>
            <a:r>
              <a:rPr sz="2200" b="1">
                <a:solidFill>
                  <a:srgbClr val="C9FF3F"/>
                </a:solidFill>
                <a:latin typeface="Consolas"/>
              </a:rPr>
              <a:t>STAGE 04</a:t>
            </a:r>
          </a:p>
          <a:p>
            <a:pPr>
              <a:spcAft>
                <a:spcPts val="800"/>
              </a:spcAft>
            </a:pPr>
            <a:r>
              <a:rPr sz="2000" b="1">
                <a:solidFill>
                  <a:srgbClr val="F2F0E4"/>
                </a:solidFill>
                <a:latin typeface="Trebuchet MS"/>
              </a:rPr>
              <a:t>Pitch Homography</a:t>
            </a:r>
          </a:p>
          <a:p>
            <a:r>
              <a:rPr sz="1500">
                <a:solidFill>
                  <a:srgbClr val="9FB8A8"/>
                </a:solidFill>
                <a:latin typeface="Calibri"/>
              </a:rPr>
              <a:t>Manual 4-point landmark correspondences compute planar transform H: p_pitch = H · p_image to 105m × 68m.</a:t>
            </a:r>
          </a:p>
        </p:txBody>
      </p:sp>
      <p:sp>
        <p:nvSpPr>
          <p:cNvPr id="50" name="Rounded Rectangle 49"/>
          <p:cNvSpPr/>
          <p:nvPr/>
        </p:nvSpPr>
        <p:spPr>
          <a:xfrm>
            <a:off x="1097280" y="6217920"/>
            <a:ext cx="3794760" cy="2971800"/>
          </a:xfrm>
          <a:prstGeom prst="roundRect">
            <a:avLst/>
          </a:prstGeom>
          <a:solidFill>
            <a:srgbClr val="123524"/>
          </a:solidFill>
          <a:ln w="19050">
            <a:solidFill>
              <a:srgbClr val="264D3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1371600" y="6446520"/>
            <a:ext cx="3246120" cy="2514600"/>
          </a:xfrm>
          <a:prstGeom prst="rect">
            <a:avLst/>
          </a:prstGeom>
          <a:noFill/>
        </p:spPr>
        <p:txBody>
          <a:bodyPr wrap="square" lIns="0" tIns="0" rIns="0" bIns="0">
            <a:spAutoFit/>
          </a:bodyPr>
          <a:lstStyle/>
          <a:p>
            <a:pPr>
              <a:spcAft>
                <a:spcPts val="600"/>
              </a:spcAft>
            </a:pPr>
            <a:r>
              <a:rPr sz="2200" b="1">
                <a:solidFill>
                  <a:srgbClr val="C9FF3F"/>
                </a:solidFill>
                <a:latin typeface="Consolas"/>
              </a:rPr>
              <a:t>STAGE 05</a:t>
            </a:r>
          </a:p>
          <a:p>
            <a:pPr>
              <a:spcAft>
                <a:spcPts val="800"/>
              </a:spcAft>
            </a:pPr>
            <a:r>
              <a:rPr sz="2000" b="1">
                <a:solidFill>
                  <a:srgbClr val="F2F0E4"/>
                </a:solidFill>
                <a:latin typeface="Trebuchet MS"/>
              </a:rPr>
              <a:t>Coordinate Refinement</a:t>
            </a:r>
          </a:p>
          <a:p>
            <a:r>
              <a:rPr sz="1500">
                <a:solidFill>
                  <a:srgbClr val="9FB8A8"/>
                </a:solidFill>
                <a:latin typeface="Calibri"/>
              </a:rPr>
              <a:t>Optical flow camera compensation, trajectory smoothing (Savitzky-Golay / moving avg), &amp; outlier rejection.</a:t>
            </a:r>
          </a:p>
        </p:txBody>
      </p:sp>
      <p:sp>
        <p:nvSpPr>
          <p:cNvPr id="52" name="Rounded Rectangle 51"/>
          <p:cNvSpPr/>
          <p:nvPr/>
        </p:nvSpPr>
        <p:spPr>
          <a:xfrm>
            <a:off x="5212080" y="6217920"/>
            <a:ext cx="3794760" cy="2971800"/>
          </a:xfrm>
          <a:prstGeom prst="roundRect">
            <a:avLst/>
          </a:prstGeom>
          <a:solidFill>
            <a:srgbClr val="123524"/>
          </a:solidFill>
          <a:ln w="19050">
            <a:solidFill>
              <a:srgbClr val="264D3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5486400" y="6446520"/>
            <a:ext cx="3246120" cy="2514600"/>
          </a:xfrm>
          <a:prstGeom prst="rect">
            <a:avLst/>
          </a:prstGeom>
          <a:noFill/>
        </p:spPr>
        <p:txBody>
          <a:bodyPr wrap="square" lIns="0" tIns="0" rIns="0" bIns="0">
            <a:spAutoFit/>
          </a:bodyPr>
          <a:lstStyle/>
          <a:p>
            <a:pPr>
              <a:spcAft>
                <a:spcPts val="600"/>
              </a:spcAft>
            </a:pPr>
            <a:r>
              <a:rPr sz="2200" b="1">
                <a:solidFill>
                  <a:srgbClr val="C9FF3F"/>
                </a:solidFill>
                <a:latin typeface="Consolas"/>
              </a:rPr>
              <a:t>STAGE 06</a:t>
            </a:r>
          </a:p>
          <a:p>
            <a:pPr>
              <a:spcAft>
                <a:spcPts val="800"/>
              </a:spcAft>
            </a:pPr>
            <a:r>
              <a:rPr sz="2000" b="1">
                <a:solidFill>
                  <a:srgbClr val="F2F0E4"/>
                </a:solidFill>
                <a:latin typeface="Trebuchet MS"/>
              </a:rPr>
              <a:t>Analytics Engine</a:t>
            </a:r>
          </a:p>
          <a:p>
            <a:r>
              <a:rPr sz="1500">
                <a:solidFill>
                  <a:srgbClr val="9FB8A8"/>
                </a:solidFill>
                <a:latin typeface="Calibri"/>
              </a:rPr>
              <a:t>Continuous integration of smoothed positions yields instantaneous speed, cumulative run distance, &amp; heatmaps.</a:t>
            </a:r>
          </a:p>
        </p:txBody>
      </p:sp>
      <p:sp>
        <p:nvSpPr>
          <p:cNvPr id="54" name="Rounded Rectangle 53"/>
          <p:cNvSpPr/>
          <p:nvPr/>
        </p:nvSpPr>
        <p:spPr>
          <a:xfrm>
            <a:off x="9326880" y="6217920"/>
            <a:ext cx="3794760" cy="2971800"/>
          </a:xfrm>
          <a:prstGeom prst="roundRect">
            <a:avLst/>
          </a:prstGeom>
          <a:solidFill>
            <a:srgbClr val="123524"/>
          </a:solidFill>
          <a:ln w="19050">
            <a:solidFill>
              <a:srgbClr val="264D3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9601200" y="6446520"/>
            <a:ext cx="3246120" cy="2514600"/>
          </a:xfrm>
          <a:prstGeom prst="rect">
            <a:avLst/>
          </a:prstGeom>
          <a:noFill/>
        </p:spPr>
        <p:txBody>
          <a:bodyPr wrap="square" lIns="0" tIns="0" rIns="0" bIns="0">
            <a:spAutoFit/>
          </a:bodyPr>
          <a:lstStyle/>
          <a:p>
            <a:pPr>
              <a:spcAft>
                <a:spcPts val="600"/>
              </a:spcAft>
            </a:pPr>
            <a:r>
              <a:rPr sz="2200" b="1">
                <a:solidFill>
                  <a:srgbClr val="C9FF3F"/>
                </a:solidFill>
                <a:latin typeface="Consolas"/>
              </a:rPr>
              <a:t>STAGE 07</a:t>
            </a:r>
          </a:p>
          <a:p>
            <a:pPr>
              <a:spcAft>
                <a:spcPts val="800"/>
              </a:spcAft>
            </a:pPr>
            <a:r>
              <a:rPr sz="2000" b="1">
                <a:solidFill>
                  <a:srgbClr val="F2F0E4"/>
                </a:solidFill>
                <a:latin typeface="Trebuchet MS"/>
              </a:rPr>
              <a:t>Ball &amp; Possession (Opt.)</a:t>
            </a:r>
          </a:p>
          <a:p>
            <a:r>
              <a:rPr sz="1500">
                <a:solidFill>
                  <a:srgbClr val="9FB8A8"/>
                </a:solidFill>
                <a:latin typeface="Calibri"/>
              </a:rPr>
              <a:t>Score = 0.65·Similarity + 0.35·Confidence (threshold 0.39). Ball proximity determines team possession share.</a:t>
            </a:r>
          </a:p>
        </p:txBody>
      </p:sp>
      <p:sp>
        <p:nvSpPr>
          <p:cNvPr id="56" name="Rounded Rectangle 55"/>
          <p:cNvSpPr/>
          <p:nvPr/>
        </p:nvSpPr>
        <p:spPr>
          <a:xfrm>
            <a:off x="13441680" y="6217920"/>
            <a:ext cx="3794760" cy="2971800"/>
          </a:xfrm>
          <a:prstGeom prst="roundRect">
            <a:avLst/>
          </a:prstGeom>
          <a:solidFill>
            <a:srgbClr val="123524"/>
          </a:solidFill>
          <a:ln w="19050">
            <a:solidFill>
              <a:srgbClr val="264D3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13716000" y="6446520"/>
            <a:ext cx="3246120" cy="2514600"/>
          </a:xfrm>
          <a:prstGeom prst="rect">
            <a:avLst/>
          </a:prstGeom>
          <a:noFill/>
        </p:spPr>
        <p:txBody>
          <a:bodyPr wrap="square" lIns="0" tIns="0" rIns="0" bIns="0">
            <a:spAutoFit/>
          </a:bodyPr>
          <a:lstStyle/>
          <a:p>
            <a:pPr>
              <a:spcAft>
                <a:spcPts val="600"/>
              </a:spcAft>
            </a:pPr>
            <a:r>
              <a:rPr sz="2200" b="1">
                <a:solidFill>
                  <a:srgbClr val="C9FF3F"/>
                </a:solidFill>
                <a:latin typeface="Consolas"/>
              </a:rPr>
              <a:t>STAGE 08</a:t>
            </a:r>
          </a:p>
          <a:p>
            <a:pPr>
              <a:spcAft>
                <a:spcPts val="800"/>
              </a:spcAft>
            </a:pPr>
            <a:r>
              <a:rPr sz="2000" b="1">
                <a:solidFill>
                  <a:srgbClr val="F2F0E4"/>
                </a:solidFill>
                <a:latin typeface="Trebuchet MS"/>
              </a:rPr>
              <a:t>Multi-Stream Rendering</a:t>
            </a:r>
          </a:p>
          <a:p>
            <a:r>
              <a:rPr sz="1500">
                <a:solidFill>
                  <a:srgbClr val="9FB8A8"/>
                </a:solidFill>
                <a:latin typeface="Calibri"/>
              </a:rPr>
              <a:t>Synchronized generation of annotated pitch, top-down tactical radar video, side-by-side view, &amp; MP4 exports.</a:t>
            </a:r>
          </a:p>
        </p:txBody>
      </p:sp>
      <p:pic>
        <p:nvPicPr>
          <p:cNvPr id="27" name="Picture 26">
            <a:extLst>
              <a:ext uri="{FF2B5EF4-FFF2-40B4-BE49-F238E27FC236}">
                <a16:creationId xmlns:a16="http://schemas.microsoft.com/office/drawing/2014/main" id="{1F0D420E-600A-B345-3A16-1C23AD860F18}"/>
              </a:ext>
            </a:extLst>
          </p:cNvPr>
          <p:cNvPicPr>
            <a:picLocks noChangeAspect="1"/>
          </p:cNvPicPr>
          <p:nvPr/>
        </p:nvPicPr>
        <p:blipFill>
          <a:blip r:embed="rId2"/>
          <a:stretch>
            <a:fillRect/>
          </a:stretch>
        </p:blipFill>
        <p:spPr>
          <a:xfrm>
            <a:off x="14791195" y="49414"/>
            <a:ext cx="3496805" cy="1605366"/>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4" name="Group 2"/>
          <p:cNvGrpSpPr/>
          <p:nvPr/>
        </p:nvGrpSpPr>
        <p:grpSpPr>
          <a:xfrm>
            <a:off x="990600" y="547044"/>
            <a:ext cx="15826740" cy="1574722"/>
            <a:chOff x="0" y="-225908"/>
            <a:chExt cx="21102320" cy="2877034"/>
          </a:xfrm>
        </p:grpSpPr>
        <p:sp>
          <p:nvSpPr>
            <p:cNvPr id="25" name="Freeform 3"/>
            <p:cNvSpPr/>
            <p:nvPr/>
          </p:nvSpPr>
          <p:spPr>
            <a:xfrm>
              <a:off x="0" y="0"/>
              <a:ext cx="21031200" cy="2651126"/>
            </a:xfrm>
            <a:custGeom>
              <a:avLst/>
              <a:gdLst/>
              <a:ahLst/>
              <a:cxnLst/>
              <a:rect l="l" t="t" r="r" b="b"/>
              <a:pathLst>
                <a:path w="21031200" h="2651126">
                  <a:moveTo>
                    <a:pt x="0" y="0"/>
                  </a:moveTo>
                  <a:lnTo>
                    <a:pt x="21031200" y="0"/>
                  </a:lnTo>
                  <a:lnTo>
                    <a:pt x="21031200" y="2651126"/>
                  </a:lnTo>
                  <a:lnTo>
                    <a:pt x="0" y="2651126"/>
                  </a:lnTo>
                  <a:close/>
                </a:path>
              </a:pathLst>
            </a:custGeom>
            <a:solidFill>
              <a:srgbClr val="000000">
                <a:alpha val="0"/>
              </a:srgbClr>
            </a:solidFill>
          </p:spPr>
          <p:txBody>
            <a:bodyPr/>
            <a:lstStyle/>
            <a:p>
              <a:endParaRPr lang="en-IN"/>
            </a:p>
          </p:txBody>
        </p:sp>
        <p:sp>
          <p:nvSpPr>
            <p:cNvPr id="26" name="TextBox 4"/>
            <p:cNvSpPr txBox="1"/>
            <p:nvPr/>
          </p:nvSpPr>
          <p:spPr>
            <a:xfrm>
              <a:off x="71120" y="-225908"/>
              <a:ext cx="21031200" cy="2708277"/>
            </a:xfrm>
            <a:prstGeom prst="rect">
              <a:avLst/>
            </a:prstGeom>
          </p:spPr>
          <p:txBody>
            <a:bodyPr lIns="0" tIns="0" rIns="0" bIns="0" rtlCol="0" anchor="ctr"/>
            <a:lstStyle/>
            <a:p>
              <a:pPr algn="l">
                <a:lnSpc>
                  <a:spcPts val="7128"/>
                </a:lnSpc>
              </a:pPr>
              <a:r>
                <a:rPr lang="en-US" sz="6600" b="1" dirty="0" smtClean="0">
                  <a:solidFill>
                    <a:srgbClr val="000000"/>
                  </a:solidFill>
                  <a:latin typeface="Times New Roman" panose="02020603050405020304" pitchFamily="18" charset="0"/>
                  <a:ea typeface="Times New Roman Bold"/>
                  <a:cs typeface="Times New Roman Bold"/>
                  <a:sym typeface="Times New Roman Bold"/>
                </a:rPr>
                <a:t>References (IEEE Format)</a:t>
              </a:r>
              <a:endParaRPr lang="en-US" sz="6600" b="1" dirty="0">
                <a:solidFill>
                  <a:srgbClr val="000000"/>
                </a:solidFill>
                <a:latin typeface="Times New Roman" panose="02020603050405020304" pitchFamily="18" charset="0"/>
                <a:ea typeface="Times New Roman Bold"/>
                <a:cs typeface="Times New Roman Bold"/>
                <a:sym typeface="Times New Roman Bold"/>
              </a:endParaRPr>
            </a:p>
          </p:txBody>
        </p:sp>
      </p:grpSp>
      <p:sp>
        <p:nvSpPr>
          <p:cNvPr id="39" name="Freeform 6"/>
          <p:cNvSpPr/>
          <p:nvPr/>
        </p:nvSpPr>
        <p:spPr>
          <a:xfrm>
            <a:off x="6057900" y="9534525"/>
            <a:ext cx="6172200" cy="547688"/>
          </a:xfrm>
          <a:custGeom>
            <a:avLst/>
            <a:gdLst/>
            <a:ahLst/>
            <a:cxnLst/>
            <a:rect l="l" t="t" r="r" b="b"/>
            <a:pathLst>
              <a:path w="8229600" h="730250">
                <a:moveTo>
                  <a:pt x="0" y="0"/>
                </a:moveTo>
                <a:lnTo>
                  <a:pt x="8229600" y="0"/>
                </a:lnTo>
                <a:lnTo>
                  <a:pt x="8229600" y="730250"/>
                </a:lnTo>
                <a:lnTo>
                  <a:pt x="0" y="730250"/>
                </a:lnTo>
                <a:close/>
              </a:path>
            </a:pathLst>
          </a:custGeom>
          <a:solidFill>
            <a:srgbClr val="000000">
              <a:alpha val="0"/>
            </a:srgbClr>
          </a:solidFill>
        </p:spPr>
        <p:txBody>
          <a:bodyPr/>
          <a:lstStyle/>
          <a:p>
            <a:endParaRPr lang="en-IN"/>
          </a:p>
        </p:txBody>
      </p:sp>
      <p:sp>
        <p:nvSpPr>
          <p:cNvPr id="40" name="TextBox 7"/>
          <p:cNvSpPr txBox="1"/>
          <p:nvPr/>
        </p:nvSpPr>
        <p:spPr>
          <a:xfrm>
            <a:off x="6324600" y="9615297"/>
            <a:ext cx="6057900" cy="576263"/>
          </a:xfrm>
          <a:prstGeom prst="rect">
            <a:avLst/>
          </a:prstGeom>
        </p:spPr>
        <p:txBody>
          <a:bodyPr lIns="0" tIns="0" rIns="0" bIns="0" rtlCol="0" anchor="ctr"/>
          <a:lstStyle/>
          <a:p>
            <a:pPr algn="ctr">
              <a:lnSpc>
                <a:spcPts val="2160"/>
              </a:lnSpc>
            </a:pPr>
            <a:r>
              <a:rPr lang="en-US" sz="1800" dirty="0">
                <a:solidFill>
                  <a:srgbClr val="767676"/>
                </a:solidFill>
                <a:latin typeface="Times New Roman"/>
                <a:ea typeface="Times New Roman"/>
                <a:cs typeface="Times New Roman"/>
                <a:sym typeface="Times New Roman"/>
              </a:rPr>
              <a:t>Department of Computer Engineering</a:t>
            </a:r>
          </a:p>
        </p:txBody>
      </p:sp>
      <p:sp>
        <p:nvSpPr>
          <p:cNvPr id="41" name="TextBox 40"/>
          <p:cNvSpPr txBox="1"/>
          <p:nvPr/>
        </p:nvSpPr>
        <p:spPr>
          <a:xfrm>
            <a:off x="1097280" y="2240280"/>
            <a:ext cx="10881360" cy="594360"/>
          </a:xfrm>
          <a:prstGeom prst="rect">
            <a:avLst/>
          </a:prstGeom>
          <a:noFill/>
        </p:spPr>
        <p:txBody>
          <a:bodyPr wrap="square" lIns="0" tIns="0" rIns="0" bIns="0">
            <a:spAutoFit/>
          </a:bodyPr>
          <a:lstStyle/>
          <a:p>
            <a:r>
              <a:rPr sz="3600" b="1">
                <a:solidFill>
                  <a:srgbClr val="000000"/>
                </a:solidFill>
                <a:latin typeface="Trebuchet MS"/>
              </a:rPr>
              <a:t>Academic &amp; Technical Citations</a:t>
            </a:r>
          </a:p>
        </p:txBody>
      </p:sp>
      <p:sp>
        <p:nvSpPr>
          <p:cNvPr id="42" name="Rounded Rectangle 41"/>
          <p:cNvSpPr/>
          <p:nvPr/>
        </p:nvSpPr>
        <p:spPr>
          <a:xfrm>
            <a:off x="1097280" y="2926080"/>
            <a:ext cx="7863840" cy="5943600"/>
          </a:xfrm>
          <a:prstGeom prst="roundRect">
            <a:avLst/>
          </a:prstGeom>
          <a:solidFill>
            <a:srgbClr val="123524"/>
          </a:solidFill>
          <a:ln w="19050">
            <a:solidFill>
              <a:srgbClr val="264D3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1463040" y="3246120"/>
            <a:ext cx="7132320" cy="3370153"/>
          </a:xfrm>
          <a:prstGeom prst="rect">
            <a:avLst/>
          </a:prstGeom>
          <a:noFill/>
        </p:spPr>
        <p:txBody>
          <a:bodyPr wrap="square" lIns="0" tIns="0" rIns="0" bIns="0">
            <a:spAutoFit/>
          </a:bodyPr>
          <a:lstStyle/>
          <a:p>
            <a:pPr>
              <a:spcAft>
                <a:spcPts val="1000"/>
              </a:spcAft>
            </a:pPr>
            <a:r>
              <a:rPr sz="2000" b="1" dirty="0">
                <a:solidFill>
                  <a:srgbClr val="C9FF3F"/>
                </a:solidFill>
                <a:latin typeface="Consolas"/>
              </a:rPr>
              <a:t>ACADEMIC PAPERS</a:t>
            </a:r>
          </a:p>
          <a:p>
            <a:pPr>
              <a:spcAft>
                <a:spcPts val="800"/>
              </a:spcAft>
            </a:pPr>
            <a:r>
              <a:rPr sz="1600" dirty="0">
                <a:solidFill>
                  <a:srgbClr val="F2F0E4"/>
                </a:solidFill>
                <a:latin typeface="Arial Narrow" panose="020B0606020202030204" pitchFamily="34" charset="0"/>
              </a:rPr>
              <a:t>[1] J. </a:t>
            </a:r>
            <a:r>
              <a:rPr sz="1600" dirty="0" err="1">
                <a:solidFill>
                  <a:srgbClr val="F2F0E4"/>
                </a:solidFill>
                <a:latin typeface="Arial Narrow" panose="020B0606020202030204" pitchFamily="34" charset="0"/>
              </a:rPr>
              <a:t>Redmon</a:t>
            </a:r>
            <a:r>
              <a:rPr sz="1600" dirty="0">
                <a:solidFill>
                  <a:srgbClr val="F2F0E4"/>
                </a:solidFill>
                <a:latin typeface="Arial Narrow" panose="020B0606020202030204" pitchFamily="34" charset="0"/>
              </a:rPr>
              <a:t> et al., "You Only Look Once: Unified, Real-Time Object Detection," CVPR, 2016.</a:t>
            </a:r>
          </a:p>
          <a:p>
            <a:pPr>
              <a:spcAft>
                <a:spcPts val="800"/>
              </a:spcAft>
            </a:pPr>
            <a:r>
              <a:rPr sz="1600" dirty="0">
                <a:solidFill>
                  <a:srgbClr val="F2F0E4"/>
                </a:solidFill>
                <a:latin typeface="Arial Narrow" panose="020B0606020202030204" pitchFamily="34" charset="0"/>
              </a:rPr>
              <a:t>[2] A. </a:t>
            </a:r>
            <a:r>
              <a:rPr sz="1600" dirty="0" err="1">
                <a:solidFill>
                  <a:srgbClr val="F2F0E4"/>
                </a:solidFill>
                <a:latin typeface="Arial Narrow" panose="020B0606020202030204" pitchFamily="34" charset="0"/>
              </a:rPr>
              <a:t>Bewley</a:t>
            </a:r>
            <a:r>
              <a:rPr sz="1600" dirty="0">
                <a:solidFill>
                  <a:srgbClr val="F2F0E4"/>
                </a:solidFill>
                <a:latin typeface="Arial Narrow" panose="020B0606020202030204" pitchFamily="34" charset="0"/>
              </a:rPr>
              <a:t> et al., "Simple Online and </a:t>
            </a:r>
            <a:r>
              <a:rPr sz="1600" dirty="0" err="1">
                <a:solidFill>
                  <a:srgbClr val="F2F0E4"/>
                </a:solidFill>
                <a:latin typeface="Arial Narrow" panose="020B0606020202030204" pitchFamily="34" charset="0"/>
              </a:rPr>
              <a:t>Realtime</a:t>
            </a:r>
            <a:r>
              <a:rPr sz="1600" dirty="0">
                <a:solidFill>
                  <a:srgbClr val="F2F0E4"/>
                </a:solidFill>
                <a:latin typeface="Arial Narrow" panose="020B0606020202030204" pitchFamily="34" charset="0"/>
              </a:rPr>
              <a:t> Tracking (SORT)," ICIP, 2016.</a:t>
            </a:r>
          </a:p>
          <a:p>
            <a:pPr>
              <a:spcAft>
                <a:spcPts val="800"/>
              </a:spcAft>
            </a:pPr>
            <a:r>
              <a:rPr sz="1600" dirty="0">
                <a:solidFill>
                  <a:srgbClr val="F2F0E4"/>
                </a:solidFill>
                <a:latin typeface="Arial Narrow" panose="020B0606020202030204" pitchFamily="34" charset="0"/>
              </a:rPr>
              <a:t>[3] N. </a:t>
            </a:r>
            <a:r>
              <a:rPr sz="1600" dirty="0" err="1">
                <a:solidFill>
                  <a:srgbClr val="F2F0E4"/>
                </a:solidFill>
                <a:latin typeface="Arial Narrow" panose="020B0606020202030204" pitchFamily="34" charset="0"/>
              </a:rPr>
              <a:t>Wojke</a:t>
            </a:r>
            <a:r>
              <a:rPr sz="1600" dirty="0">
                <a:solidFill>
                  <a:srgbClr val="F2F0E4"/>
                </a:solidFill>
                <a:latin typeface="Arial Narrow" panose="020B0606020202030204" pitchFamily="34" charset="0"/>
              </a:rPr>
              <a:t> et al., "Simple Online Tracking with a Deep Association Metric (</a:t>
            </a:r>
            <a:r>
              <a:rPr sz="1600" dirty="0" err="1">
                <a:solidFill>
                  <a:srgbClr val="F2F0E4"/>
                </a:solidFill>
                <a:latin typeface="Arial Narrow" panose="020B0606020202030204" pitchFamily="34" charset="0"/>
              </a:rPr>
              <a:t>DeepSORT</a:t>
            </a:r>
            <a:r>
              <a:rPr sz="1600" dirty="0">
                <a:solidFill>
                  <a:srgbClr val="F2F0E4"/>
                </a:solidFill>
                <a:latin typeface="Arial Narrow" panose="020B0606020202030204" pitchFamily="34" charset="0"/>
              </a:rPr>
              <a:t>)," ICIP, 2017.</a:t>
            </a:r>
          </a:p>
          <a:p>
            <a:pPr>
              <a:spcAft>
                <a:spcPts val="800"/>
              </a:spcAft>
            </a:pPr>
            <a:r>
              <a:rPr sz="1600" dirty="0">
                <a:solidFill>
                  <a:srgbClr val="F2F0E4"/>
                </a:solidFill>
                <a:latin typeface="Arial Narrow" panose="020B0606020202030204" pitchFamily="34" charset="0"/>
              </a:rPr>
              <a:t>[4] Y. Zhang et al., "</a:t>
            </a:r>
            <a:r>
              <a:rPr sz="1600" dirty="0" err="1">
                <a:solidFill>
                  <a:srgbClr val="F2F0E4"/>
                </a:solidFill>
                <a:latin typeface="Arial Narrow" panose="020B0606020202030204" pitchFamily="34" charset="0"/>
              </a:rPr>
              <a:t>ByteTrack</a:t>
            </a:r>
            <a:r>
              <a:rPr sz="1600" dirty="0">
                <a:solidFill>
                  <a:srgbClr val="F2F0E4"/>
                </a:solidFill>
                <a:latin typeface="Arial Narrow" panose="020B0606020202030204" pitchFamily="34" charset="0"/>
              </a:rPr>
              <a:t>: Multi-Object Tracking by Associating Every Box," ECCV, 2022.</a:t>
            </a:r>
          </a:p>
          <a:p>
            <a:pPr>
              <a:spcAft>
                <a:spcPts val="800"/>
              </a:spcAft>
            </a:pPr>
            <a:r>
              <a:rPr sz="1600" dirty="0">
                <a:solidFill>
                  <a:srgbClr val="F2F0E4"/>
                </a:solidFill>
                <a:latin typeface="Arial Narrow" panose="020B0606020202030204" pitchFamily="34" charset="0"/>
              </a:rPr>
              <a:t>[5] S. </a:t>
            </a:r>
            <a:r>
              <a:rPr sz="1600" dirty="0" err="1">
                <a:solidFill>
                  <a:srgbClr val="F2F0E4"/>
                </a:solidFill>
                <a:latin typeface="Arial Narrow" panose="020B0606020202030204" pitchFamily="34" charset="0"/>
              </a:rPr>
              <a:t>Giancola</a:t>
            </a:r>
            <a:r>
              <a:rPr sz="1600" dirty="0">
                <a:solidFill>
                  <a:srgbClr val="F2F0E4"/>
                </a:solidFill>
                <a:latin typeface="Arial Narrow" panose="020B0606020202030204" pitchFamily="34" charset="0"/>
              </a:rPr>
              <a:t> et al., "</a:t>
            </a:r>
            <a:r>
              <a:rPr sz="1600" dirty="0" err="1">
                <a:solidFill>
                  <a:srgbClr val="F2F0E4"/>
                </a:solidFill>
                <a:latin typeface="Arial Narrow" panose="020B0606020202030204" pitchFamily="34" charset="0"/>
              </a:rPr>
              <a:t>SoccerNet</a:t>
            </a:r>
            <a:r>
              <a:rPr sz="1600" dirty="0">
                <a:solidFill>
                  <a:srgbClr val="F2F0E4"/>
                </a:solidFill>
                <a:latin typeface="Arial Narrow" panose="020B0606020202030204" pitchFamily="34" charset="0"/>
              </a:rPr>
              <a:t>: Scalable Dataset for Action Spotting," CVPRW, 2018.</a:t>
            </a:r>
          </a:p>
          <a:p>
            <a:pPr>
              <a:spcAft>
                <a:spcPts val="800"/>
              </a:spcAft>
            </a:pPr>
            <a:r>
              <a:rPr sz="1600" dirty="0">
                <a:solidFill>
                  <a:srgbClr val="F2F0E4"/>
                </a:solidFill>
                <a:latin typeface="Arial Narrow" panose="020B0606020202030204" pitchFamily="34" charset="0"/>
              </a:rPr>
              <a:t>[6] A. </a:t>
            </a:r>
            <a:r>
              <a:rPr sz="1600" dirty="0" err="1">
                <a:solidFill>
                  <a:srgbClr val="F2F0E4"/>
                </a:solidFill>
                <a:latin typeface="Arial Narrow" panose="020B0606020202030204" pitchFamily="34" charset="0"/>
              </a:rPr>
              <a:t>Cioppa</a:t>
            </a:r>
            <a:r>
              <a:rPr sz="1600" dirty="0">
                <a:solidFill>
                  <a:srgbClr val="F2F0E4"/>
                </a:solidFill>
                <a:latin typeface="Arial Narrow" panose="020B0606020202030204" pitchFamily="34" charset="0"/>
              </a:rPr>
              <a:t> et al., "</a:t>
            </a:r>
            <a:r>
              <a:rPr sz="1600" dirty="0" err="1">
                <a:solidFill>
                  <a:srgbClr val="F2F0E4"/>
                </a:solidFill>
                <a:latin typeface="Arial Narrow" panose="020B0606020202030204" pitchFamily="34" charset="0"/>
              </a:rPr>
              <a:t>SoccerNet</a:t>
            </a:r>
            <a:r>
              <a:rPr sz="1600" dirty="0">
                <a:solidFill>
                  <a:srgbClr val="F2F0E4"/>
                </a:solidFill>
                <a:latin typeface="Arial Narrow" panose="020B0606020202030204" pitchFamily="34" charset="0"/>
              </a:rPr>
              <a:t>-Tracking: Benchmark in Soccer Videos," CVPRW, 2022.</a:t>
            </a:r>
          </a:p>
          <a:p>
            <a:pPr>
              <a:spcAft>
                <a:spcPts val="800"/>
              </a:spcAft>
            </a:pPr>
            <a:r>
              <a:rPr sz="1600" dirty="0">
                <a:solidFill>
                  <a:srgbClr val="F2F0E4"/>
                </a:solidFill>
                <a:latin typeface="Arial Narrow" panose="020B0606020202030204" pitchFamily="34" charset="0"/>
              </a:rPr>
              <a:t>[7] N. </a:t>
            </a:r>
            <a:r>
              <a:rPr sz="1600" dirty="0" err="1">
                <a:solidFill>
                  <a:srgbClr val="F2F0E4"/>
                </a:solidFill>
                <a:latin typeface="Arial Narrow" panose="020B0606020202030204" pitchFamily="34" charset="0"/>
              </a:rPr>
              <a:t>Homayounfar</a:t>
            </a:r>
            <a:r>
              <a:rPr sz="1600" dirty="0">
                <a:solidFill>
                  <a:srgbClr val="F2F0E4"/>
                </a:solidFill>
                <a:latin typeface="Arial Narrow" panose="020B0606020202030204" pitchFamily="34" charset="0"/>
              </a:rPr>
              <a:t> et al., "Sports Field Localization via Deep Structured Models," CVPR, 2017.</a:t>
            </a:r>
          </a:p>
          <a:p>
            <a:pPr>
              <a:spcAft>
                <a:spcPts val="800"/>
              </a:spcAft>
            </a:pPr>
            <a:r>
              <a:rPr sz="1600" dirty="0">
                <a:solidFill>
                  <a:srgbClr val="F2F0E4"/>
                </a:solidFill>
                <a:latin typeface="Arial Narrow" panose="020B0606020202030204" pitchFamily="34" charset="0"/>
              </a:rPr>
              <a:t>[8] J. </a:t>
            </a:r>
            <a:r>
              <a:rPr sz="1600" dirty="0" err="1">
                <a:solidFill>
                  <a:srgbClr val="F2F0E4"/>
                </a:solidFill>
                <a:latin typeface="Arial Narrow" panose="020B0606020202030204" pitchFamily="34" charset="0"/>
              </a:rPr>
              <a:t>Theiner</a:t>
            </a:r>
            <a:r>
              <a:rPr sz="1600" dirty="0">
                <a:solidFill>
                  <a:srgbClr val="F2F0E4"/>
                </a:solidFill>
                <a:latin typeface="Arial Narrow" panose="020B0606020202030204" pitchFamily="34" charset="0"/>
              </a:rPr>
              <a:t> et al., "Positional Player Data from Broadcast Soccer Videos," WACV, 2022.</a:t>
            </a:r>
          </a:p>
        </p:txBody>
      </p:sp>
      <p:sp>
        <p:nvSpPr>
          <p:cNvPr id="44" name="Rounded Rectangle 43"/>
          <p:cNvSpPr/>
          <p:nvPr/>
        </p:nvSpPr>
        <p:spPr>
          <a:xfrm>
            <a:off x="9326880" y="2926080"/>
            <a:ext cx="7863840" cy="5943600"/>
          </a:xfrm>
          <a:prstGeom prst="roundRect">
            <a:avLst/>
          </a:prstGeom>
          <a:solidFill>
            <a:srgbClr val="123524"/>
          </a:solidFill>
          <a:ln w="19050">
            <a:solidFill>
              <a:srgbClr val="264D3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9692640" y="3205735"/>
            <a:ext cx="7132320" cy="3344505"/>
          </a:xfrm>
          <a:prstGeom prst="rect">
            <a:avLst/>
          </a:prstGeom>
          <a:noFill/>
        </p:spPr>
        <p:txBody>
          <a:bodyPr wrap="square" lIns="0" tIns="0" rIns="0" bIns="0">
            <a:spAutoFit/>
          </a:bodyPr>
          <a:lstStyle/>
          <a:p>
            <a:pPr>
              <a:spcAft>
                <a:spcPts val="1000"/>
              </a:spcAft>
            </a:pPr>
            <a:r>
              <a:rPr sz="2000" b="1" dirty="0">
                <a:solidFill>
                  <a:srgbClr val="C9FF3F"/>
                </a:solidFill>
                <a:latin typeface="Consolas"/>
              </a:rPr>
              <a:t>TECHNICAL FOUNDATIONS &amp; TOOLING</a:t>
            </a:r>
          </a:p>
          <a:p>
            <a:pPr>
              <a:spcAft>
                <a:spcPts val="900"/>
              </a:spcAft>
            </a:pPr>
            <a:r>
              <a:rPr sz="1600" dirty="0">
                <a:solidFill>
                  <a:srgbClr val="F2F0E4"/>
                </a:solidFill>
                <a:latin typeface="Arial Narrow" panose="020B0606020202030204" pitchFamily="34" charset="0"/>
              </a:rPr>
              <a:t>[9] R. E. </a:t>
            </a:r>
            <a:r>
              <a:rPr sz="1600" dirty="0" err="1">
                <a:solidFill>
                  <a:srgbClr val="F2F0E4"/>
                </a:solidFill>
                <a:latin typeface="Arial Narrow" panose="020B0606020202030204" pitchFamily="34" charset="0"/>
              </a:rPr>
              <a:t>Kalman</a:t>
            </a:r>
            <a:r>
              <a:rPr sz="1600" dirty="0">
                <a:solidFill>
                  <a:srgbClr val="F2F0E4"/>
                </a:solidFill>
                <a:latin typeface="Arial Narrow" panose="020B0606020202030204" pitchFamily="34" charset="0"/>
              </a:rPr>
              <a:t>, "A New Approach to Linear Filtering and Prediction Problems," J. Basic Eng., 1960.</a:t>
            </a:r>
          </a:p>
          <a:p>
            <a:pPr>
              <a:spcAft>
                <a:spcPts val="900"/>
              </a:spcAft>
            </a:pPr>
            <a:r>
              <a:rPr sz="1600" dirty="0">
                <a:solidFill>
                  <a:srgbClr val="F2F0E4"/>
                </a:solidFill>
                <a:latin typeface="Arial Narrow" panose="020B0606020202030204" pitchFamily="34" charset="0"/>
              </a:rPr>
              <a:t>[10] R. Hartley and A. Zisserman, Multiple View Geometry in Computer Vision, 2nd ed. Cambridge Univ. Press, 2004.</a:t>
            </a:r>
          </a:p>
          <a:p>
            <a:pPr>
              <a:spcAft>
                <a:spcPts val="900"/>
              </a:spcAft>
            </a:pPr>
            <a:r>
              <a:rPr sz="1600" dirty="0">
                <a:solidFill>
                  <a:srgbClr val="F2F0E4"/>
                </a:solidFill>
                <a:latin typeface="Arial Narrow" panose="020B0606020202030204" pitchFamily="34" charset="0"/>
              </a:rPr>
              <a:t>[11] G. </a:t>
            </a:r>
            <a:r>
              <a:rPr sz="1600" dirty="0" err="1">
                <a:solidFill>
                  <a:srgbClr val="F2F0E4"/>
                </a:solidFill>
                <a:latin typeface="Arial Narrow" panose="020B0606020202030204" pitchFamily="34" charset="0"/>
              </a:rPr>
              <a:t>Jocher</a:t>
            </a:r>
            <a:r>
              <a:rPr sz="1600" dirty="0">
                <a:solidFill>
                  <a:srgbClr val="F2F0E4"/>
                </a:solidFill>
                <a:latin typeface="Arial Narrow" panose="020B0606020202030204" pitchFamily="34" charset="0"/>
              </a:rPr>
              <a:t>, A. </a:t>
            </a:r>
            <a:r>
              <a:rPr sz="1600" dirty="0" err="1">
                <a:solidFill>
                  <a:srgbClr val="F2F0E4"/>
                </a:solidFill>
                <a:latin typeface="Arial Narrow" panose="020B0606020202030204" pitchFamily="34" charset="0"/>
              </a:rPr>
              <a:t>Chaurasia</a:t>
            </a:r>
            <a:r>
              <a:rPr sz="1600" dirty="0">
                <a:solidFill>
                  <a:srgbClr val="F2F0E4"/>
                </a:solidFill>
                <a:latin typeface="Arial Narrow" panose="020B0606020202030204" pitchFamily="34" charset="0"/>
              </a:rPr>
              <a:t>, and J. </a:t>
            </a:r>
            <a:r>
              <a:rPr sz="1600" dirty="0" err="1">
                <a:solidFill>
                  <a:srgbClr val="F2F0E4"/>
                </a:solidFill>
                <a:latin typeface="Arial Narrow" panose="020B0606020202030204" pitchFamily="34" charset="0"/>
              </a:rPr>
              <a:t>Qiu</a:t>
            </a:r>
            <a:r>
              <a:rPr sz="1600" dirty="0">
                <a:solidFill>
                  <a:srgbClr val="F2F0E4"/>
                </a:solidFill>
                <a:latin typeface="Arial Narrow" panose="020B0606020202030204" pitchFamily="34" charset="0"/>
              </a:rPr>
              <a:t>, "</a:t>
            </a:r>
            <a:r>
              <a:rPr sz="1600" dirty="0" err="1">
                <a:solidFill>
                  <a:srgbClr val="F2F0E4"/>
                </a:solidFill>
                <a:latin typeface="Arial Narrow" panose="020B0606020202030204" pitchFamily="34" charset="0"/>
              </a:rPr>
              <a:t>Ultralytics</a:t>
            </a:r>
            <a:r>
              <a:rPr sz="1600" dirty="0">
                <a:solidFill>
                  <a:srgbClr val="F2F0E4"/>
                </a:solidFill>
                <a:latin typeface="Arial Narrow" panose="020B0606020202030204" pitchFamily="34" charset="0"/>
              </a:rPr>
              <a:t> YOLO," software repository, 2023.</a:t>
            </a:r>
          </a:p>
          <a:p>
            <a:pPr>
              <a:spcAft>
                <a:spcPts val="900"/>
              </a:spcAft>
            </a:pPr>
            <a:r>
              <a:rPr sz="1600" dirty="0">
                <a:solidFill>
                  <a:srgbClr val="F2F0E4"/>
                </a:solidFill>
                <a:latin typeface="Arial Narrow" panose="020B0606020202030204" pitchFamily="34" charset="0"/>
              </a:rPr>
              <a:t>[12] G. </a:t>
            </a:r>
            <a:r>
              <a:rPr sz="1600" dirty="0" err="1">
                <a:solidFill>
                  <a:srgbClr val="F2F0E4"/>
                </a:solidFill>
                <a:latin typeface="Arial Narrow" panose="020B0606020202030204" pitchFamily="34" charset="0"/>
              </a:rPr>
              <a:t>Bradski</a:t>
            </a:r>
            <a:r>
              <a:rPr sz="1600" dirty="0">
                <a:solidFill>
                  <a:srgbClr val="F2F0E4"/>
                </a:solidFill>
                <a:latin typeface="Arial Narrow" panose="020B0606020202030204" pitchFamily="34" charset="0"/>
              </a:rPr>
              <a:t>, "The </a:t>
            </a:r>
            <a:r>
              <a:rPr sz="1600" dirty="0" err="1">
                <a:solidFill>
                  <a:srgbClr val="F2F0E4"/>
                </a:solidFill>
                <a:latin typeface="Arial Narrow" panose="020B0606020202030204" pitchFamily="34" charset="0"/>
              </a:rPr>
              <a:t>OpenCV</a:t>
            </a:r>
            <a:r>
              <a:rPr sz="1600" dirty="0">
                <a:solidFill>
                  <a:srgbClr val="F2F0E4"/>
                </a:solidFill>
                <a:latin typeface="Arial Narrow" panose="020B0606020202030204" pitchFamily="34" charset="0"/>
              </a:rPr>
              <a:t> Library," Dr. Dobb's Journal of Software Tools, 2000.</a:t>
            </a:r>
          </a:p>
          <a:p>
            <a:pPr>
              <a:spcAft>
                <a:spcPts val="900"/>
              </a:spcAft>
            </a:pPr>
            <a:r>
              <a:rPr sz="1600" dirty="0">
                <a:solidFill>
                  <a:srgbClr val="F2F0E4"/>
                </a:solidFill>
                <a:latin typeface="Arial Narrow" panose="020B0606020202030204" pitchFamily="34" charset="0"/>
              </a:rPr>
              <a:t>[13] C. R. Harris et al., "Array programming with </a:t>
            </a:r>
            <a:r>
              <a:rPr sz="1600" dirty="0" err="1">
                <a:solidFill>
                  <a:srgbClr val="F2F0E4"/>
                </a:solidFill>
                <a:latin typeface="Arial Narrow" panose="020B0606020202030204" pitchFamily="34" charset="0"/>
              </a:rPr>
              <a:t>NumPy</a:t>
            </a:r>
            <a:r>
              <a:rPr sz="1600" dirty="0">
                <a:solidFill>
                  <a:srgbClr val="F2F0E4"/>
                </a:solidFill>
                <a:latin typeface="Arial Narrow" panose="020B0606020202030204" pitchFamily="34" charset="0"/>
              </a:rPr>
              <a:t>," Nature, vol. 585, pp. 357–362, 2020.</a:t>
            </a:r>
          </a:p>
          <a:p>
            <a:pPr>
              <a:spcAft>
                <a:spcPts val="900"/>
              </a:spcAft>
            </a:pPr>
            <a:r>
              <a:rPr sz="1600" dirty="0">
                <a:solidFill>
                  <a:srgbClr val="F2F0E4"/>
                </a:solidFill>
                <a:latin typeface="Arial Narrow" panose="020B0606020202030204" pitchFamily="34" charset="0"/>
              </a:rPr>
              <a:t>[14] Pallets Projects, "Flask Web Development Framework Documentation," 2023.</a:t>
            </a:r>
          </a:p>
          <a:p>
            <a:pPr>
              <a:spcAft>
                <a:spcPts val="900"/>
              </a:spcAft>
            </a:pPr>
            <a:r>
              <a:rPr sz="1600" dirty="0">
                <a:solidFill>
                  <a:srgbClr val="F2F0E4"/>
                </a:solidFill>
                <a:latin typeface="Arial Narrow" panose="020B0606020202030204" pitchFamily="34" charset="0"/>
              </a:rPr>
              <a:t>[15] Python Software Foundation, "Python 3 Documentation," 2024.</a:t>
            </a:r>
          </a:p>
        </p:txBody>
      </p:sp>
      <p:pic>
        <p:nvPicPr>
          <p:cNvPr id="13" name="Picture 12">
            <a:extLst>
              <a:ext uri="{FF2B5EF4-FFF2-40B4-BE49-F238E27FC236}">
                <a16:creationId xmlns:a16="http://schemas.microsoft.com/office/drawing/2014/main" id="{1F0D420E-600A-B345-3A16-1C23AD860F18}"/>
              </a:ext>
            </a:extLst>
          </p:cNvPr>
          <p:cNvPicPr>
            <a:picLocks noChangeAspect="1"/>
          </p:cNvPicPr>
          <p:nvPr/>
        </p:nvPicPr>
        <p:blipFill>
          <a:blip r:embed="rId2"/>
          <a:stretch>
            <a:fillRect/>
          </a:stretch>
        </p:blipFill>
        <p:spPr>
          <a:xfrm>
            <a:off x="14791195" y="46140"/>
            <a:ext cx="3496805" cy="1605366"/>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5"/>
          <p:cNvGrpSpPr/>
          <p:nvPr/>
        </p:nvGrpSpPr>
        <p:grpSpPr>
          <a:xfrm>
            <a:off x="6057900" y="9534525"/>
            <a:ext cx="6172200" cy="547688"/>
            <a:chOff x="0" y="0"/>
            <a:chExt cx="8229600" cy="730250"/>
          </a:xfrm>
        </p:grpSpPr>
        <p:sp>
          <p:nvSpPr>
            <p:cNvPr id="6" name="Freeform 6"/>
            <p:cNvSpPr/>
            <p:nvPr/>
          </p:nvSpPr>
          <p:spPr>
            <a:xfrm>
              <a:off x="0" y="0"/>
              <a:ext cx="8229600" cy="730250"/>
            </a:xfrm>
            <a:custGeom>
              <a:avLst/>
              <a:gdLst/>
              <a:ahLst/>
              <a:cxnLst/>
              <a:rect l="l" t="t" r="r" b="b"/>
              <a:pathLst>
                <a:path w="8229600" h="730250">
                  <a:moveTo>
                    <a:pt x="0" y="0"/>
                  </a:moveTo>
                  <a:lnTo>
                    <a:pt x="8229600" y="0"/>
                  </a:lnTo>
                  <a:lnTo>
                    <a:pt x="8229600" y="730250"/>
                  </a:lnTo>
                  <a:lnTo>
                    <a:pt x="0" y="730250"/>
                  </a:lnTo>
                  <a:close/>
                </a:path>
              </a:pathLst>
            </a:custGeom>
            <a:solidFill>
              <a:srgbClr val="000000">
                <a:alpha val="0"/>
              </a:srgbClr>
            </a:solidFill>
          </p:spPr>
          <p:txBody>
            <a:bodyPr/>
            <a:lstStyle/>
            <a:p>
              <a:endParaRPr lang="en-IN"/>
            </a:p>
          </p:txBody>
        </p:sp>
        <p:sp>
          <p:nvSpPr>
            <p:cNvPr id="7" name="TextBox 7"/>
            <p:cNvSpPr txBox="1"/>
            <p:nvPr/>
          </p:nvSpPr>
          <p:spPr>
            <a:xfrm>
              <a:off x="0" y="-38100"/>
              <a:ext cx="8229600" cy="768350"/>
            </a:xfrm>
            <a:prstGeom prst="rect">
              <a:avLst/>
            </a:prstGeom>
          </p:spPr>
          <p:txBody>
            <a:bodyPr lIns="0" tIns="0" rIns="0" bIns="0" rtlCol="0" anchor="ctr"/>
            <a:lstStyle/>
            <a:p>
              <a:pPr algn="ctr">
                <a:lnSpc>
                  <a:spcPts val="2160"/>
                </a:lnSpc>
              </a:pPr>
              <a:r>
                <a:rPr lang="en-US" sz="1800">
                  <a:solidFill>
                    <a:srgbClr val="767676"/>
                  </a:solidFill>
                  <a:latin typeface="Times New Roman"/>
                  <a:ea typeface="Times New Roman"/>
                  <a:cs typeface="Times New Roman"/>
                  <a:sym typeface="Times New Roman"/>
                </a:rPr>
                <a:t>Department of Computer Engineering</a:t>
              </a:r>
            </a:p>
          </p:txBody>
        </p:sp>
      </p:grpSp>
      <p:sp>
        <p:nvSpPr>
          <p:cNvPr id="8" name="TextBox 7"/>
          <p:cNvSpPr txBox="1"/>
          <p:nvPr/>
        </p:nvSpPr>
        <p:spPr>
          <a:xfrm>
            <a:off x="2743200" y="2286000"/>
            <a:ext cx="12801600" cy="3847207"/>
          </a:xfrm>
          <a:prstGeom prst="rect">
            <a:avLst/>
          </a:prstGeom>
          <a:noFill/>
        </p:spPr>
        <p:txBody>
          <a:bodyPr vert="horz" wrap="square" rtlCol="0">
            <a:spAutoFit/>
          </a:bodyPr>
          <a:lstStyle/>
          <a:p>
            <a:pPr algn="ctr"/>
            <a:r>
              <a:rPr lang="en-US" sz="7200" b="1" smtClean="0">
                <a:solidFill>
                  <a:srgbClr val="002060"/>
                </a:solidFill>
                <a:latin typeface="Times New Roman" panose="02020603050405020304" pitchFamily="18" charset="0"/>
              </a:rPr>
              <a:t>Thank You!
</a:t>
            </a:r>
            <a:r>
              <a:rPr lang="en-US" sz="2800" b="1" smtClean="0">
                <a:latin typeface="Times New Roman" panose="02020603050405020304" pitchFamily="18" charset="0"/>
              </a:rPr>
              <a:t>
</a:t>
            </a:r>
            <a:r>
              <a:rPr lang="en-US" sz="3200" b="1" smtClean="0">
                <a:solidFill>
                  <a:srgbClr val="646464"/>
                </a:solidFill>
                <a:latin typeface="Times New Roman" panose="02020603050405020304" pitchFamily="18" charset="0"/>
              </a:rPr>
              <a:t>Questions &amp; Discussion
</a:t>
            </a:r>
            <a:r>
              <a:rPr lang="en-US" sz="2800" b="1" smtClean="0">
                <a:latin typeface="Times New Roman" panose="02020603050405020304" pitchFamily="18" charset="0"/>
              </a:rPr>
              <a:t>
Guided By: Prof. Reena Gharat
Department of Computer Engineering
SIES Graduate School of Technology</a:t>
            </a:r>
            <a:endParaRPr lang="en-IN" sz="2800" b="1">
              <a:latin typeface="Times New Roman" panose="02020603050405020304" pitchFamily="18" charset="0"/>
            </a:endParaRPr>
          </a:p>
        </p:txBody>
      </p:sp>
      <p:pic>
        <p:nvPicPr>
          <p:cNvPr id="9" name="Picture 8">
            <a:extLst>
              <a:ext uri="{FF2B5EF4-FFF2-40B4-BE49-F238E27FC236}">
                <a16:creationId xmlns:a16="http://schemas.microsoft.com/office/drawing/2014/main" id="{1F0D420E-600A-B345-3A16-1C23AD860F18}"/>
              </a:ext>
            </a:extLst>
          </p:cNvPr>
          <p:cNvPicPr>
            <a:picLocks noChangeAspect="1"/>
          </p:cNvPicPr>
          <p:nvPr/>
        </p:nvPicPr>
        <p:blipFill>
          <a:blip r:embed="rId2"/>
          <a:stretch>
            <a:fillRect/>
          </a:stretch>
        </p:blipFill>
        <p:spPr>
          <a:xfrm>
            <a:off x="7424657" y="1292"/>
            <a:ext cx="3496805" cy="1605366"/>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128</TotalTime>
  <Words>1875</Words>
  <Application>Microsoft Office PowerPoint</Application>
  <PresentationFormat>Custom</PresentationFormat>
  <Paragraphs>256</Paragraphs>
  <Slides>12</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12</vt:i4>
      </vt:variant>
    </vt:vector>
  </HeadingPairs>
  <TitlesOfParts>
    <vt:vector size="20" baseType="lpstr">
      <vt:lpstr>Arial Narrow</vt:lpstr>
      <vt:lpstr>Times New Roman</vt:lpstr>
      <vt:lpstr>Arial</vt:lpstr>
      <vt:lpstr>Trebuchet MS</vt:lpstr>
      <vt:lpstr>Calibri</vt:lpstr>
      <vt:lpstr>Times New Roman Bold</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VCare_main_ppt _format.pptx</dc:title>
  <dc:creator>Milind Sahu</dc:creator>
  <cp:lastModifiedBy>Milind</cp:lastModifiedBy>
  <cp:revision>33</cp:revision>
  <dcterms:created xsi:type="dcterms:W3CDTF">2006-08-16T00:00:00Z</dcterms:created>
  <dcterms:modified xsi:type="dcterms:W3CDTF">2026-10-23T18:12:54Z</dcterms:modified>
  <dc:identifier>DAGlh3UuUZU</dc:identifier>
</cp:coreProperties>
</file>